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85" r:id="rId2"/>
    <p:sldMasterId id="2147483836" r:id="rId3"/>
  </p:sldMasterIdLst>
  <p:notesMasterIdLst>
    <p:notesMasterId r:id="rId17"/>
  </p:notesMasterIdLst>
  <p:handoutMasterIdLst>
    <p:handoutMasterId r:id="rId18"/>
  </p:handoutMasterIdLst>
  <p:sldIdLst>
    <p:sldId id="1220" r:id="rId4"/>
    <p:sldId id="3949" r:id="rId5"/>
    <p:sldId id="3918" r:id="rId6"/>
    <p:sldId id="3919" r:id="rId7"/>
    <p:sldId id="3942" r:id="rId8"/>
    <p:sldId id="3946" r:id="rId9"/>
    <p:sldId id="3940" r:id="rId10"/>
    <p:sldId id="3941" r:id="rId11"/>
    <p:sldId id="3886" r:id="rId12"/>
    <p:sldId id="3721" r:id="rId13"/>
    <p:sldId id="2329" r:id="rId14"/>
    <p:sldId id="1267" r:id="rId15"/>
    <p:sldId id="1718" r:id="rId16"/>
  </p:sldIdLst>
  <p:sldSz cx="12192000" cy="6858000"/>
  <p:notesSz cx="9939338" cy="68056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C61C2BC5-9534-48B7-B80F-2ECE64351F54}">
          <p14:sldIdLst>
            <p14:sldId id="1220"/>
            <p14:sldId id="3949"/>
          </p14:sldIdLst>
        </p14:section>
        <p14:section name="景氣與政策" id="{7DB26238-0BF6-4A68-9D14-02636798BF47}">
          <p14:sldIdLst>
            <p14:sldId id="3918"/>
            <p14:sldId id="3919"/>
            <p14:sldId id="3942"/>
            <p14:sldId id="3946"/>
          </p14:sldIdLst>
        </p14:section>
        <p14:section name="債市" id="{FE53D51F-61F7-40E9-899D-007E5B3CEFCF}">
          <p14:sldIdLst/>
        </p14:section>
        <p14:section name="美股" id="{86435E1B-C671-49CD-B8AB-944F802DA683}">
          <p14:sldIdLst/>
        </p14:section>
        <p14:section name="美元" id="{48F6C90C-BCB7-4FFD-A337-7C2D13C27181}">
          <p14:sldIdLst/>
        </p14:section>
        <p14:section name="台灣" id="{B972F14F-2B0D-425B-B98E-F93DB9085C2D}">
          <p14:sldIdLst/>
        </p14:section>
        <p14:section name="其他股市經濟" id="{8396D399-0699-4AE4-9238-D893A7A041D9}">
          <p14:sldIdLst>
            <p14:sldId id="3940"/>
            <p14:sldId id="3941"/>
            <p14:sldId id="3886"/>
          </p14:sldIdLst>
        </p14:section>
        <p14:section name="商品" id="{0AD50144-5E2D-4C99-9EC1-D1C7835EA900}">
          <p14:sldIdLst>
            <p14:sldId id="3721"/>
          </p14:sldIdLst>
        </p14:section>
        <p14:section name="投資建議" id="{ED563313-E3FF-4985-8FC6-D422DCE68CC2}">
          <p14:sldIdLst>
            <p14:sldId id="2329"/>
            <p14:sldId id="1267"/>
            <p14:sldId id="17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bankwm" initials="o" lastIdx="1" clrIdx="0">
    <p:extLst>
      <p:ext uri="{19B8F6BF-5375-455C-9EA6-DF929625EA0E}">
        <p15:presenceInfo xmlns:p15="http://schemas.microsoft.com/office/powerpoint/2012/main" userId="obankwm" providerId="None"/>
      </p:ext>
    </p:extLst>
  </p:cmAuthor>
  <p:cmAuthor id="2" name="李宗翰" initials="李宗翰" lastIdx="1" clrIdx="1">
    <p:extLst>
      <p:ext uri="{19B8F6BF-5375-455C-9EA6-DF929625EA0E}">
        <p15:presenceInfo xmlns:p15="http://schemas.microsoft.com/office/powerpoint/2012/main" userId="S-1-5-21-1757981266-583907252-725345543-28578" providerId="AD"/>
      </p:ext>
    </p:extLst>
  </p:cmAuthor>
  <p:cmAuthor id="3" name="obankwm" initials="o [2]" lastIdx="22" clrIdx="2">
    <p:extLst>
      <p:ext uri="{19B8F6BF-5375-455C-9EA6-DF929625EA0E}">
        <p15:presenceInfo xmlns:p15="http://schemas.microsoft.com/office/powerpoint/2012/main" userId="S-1-5-21-1757981266-583907252-725345543-2945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9966"/>
    <a:srgbClr val="00CC00"/>
    <a:srgbClr val="FFCCFF"/>
    <a:srgbClr val="00CC99"/>
    <a:srgbClr val="33CC33"/>
    <a:srgbClr val="00FFCC"/>
    <a:srgbClr val="008000"/>
    <a:srgbClr val="05A5D7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佈景主題樣式 2 - 輔色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中等深淺樣式 1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13" autoAdjust="0"/>
    <p:restoredTop sz="94012" autoAdjust="0"/>
  </p:normalViewPr>
  <p:slideViewPr>
    <p:cSldViewPr>
      <p:cViewPr varScale="1">
        <p:scale>
          <a:sx n="109" d="100"/>
          <a:sy n="109" d="100"/>
        </p:scale>
        <p:origin x="200" y="2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2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6737" cy="3402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630285" y="0"/>
            <a:ext cx="4306737" cy="3402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F0D0E568-4E26-41F5-9E8C-31602E814E2A}" type="datetimeFigureOut">
              <a:rPr lang="zh-TW" altLang="en-US"/>
              <a:pPr>
                <a:defRPr/>
              </a:pPr>
              <a:t>2026/5/12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2" y="6464301"/>
            <a:ext cx="4306737" cy="3402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630285" y="6464301"/>
            <a:ext cx="4306737" cy="3402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E0DAD802-4E45-4A8F-B0D2-6CB792B1597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25968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6737" cy="3402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630285" y="0"/>
            <a:ext cx="4306737" cy="3402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A97AFA11-5373-416E-8118-84F122403D30}" type="datetimeFigureOut">
              <a:rPr lang="zh-TW" altLang="en-US"/>
              <a:pPr>
                <a:defRPr/>
              </a:pPr>
              <a:t>2026/5/12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703513" y="511175"/>
            <a:ext cx="4532312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94400" y="3232694"/>
            <a:ext cx="7950543" cy="3062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2" y="6464301"/>
            <a:ext cx="4306737" cy="3402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630285" y="6464301"/>
            <a:ext cx="4306737" cy="3402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2557922B-A9DC-4138-8E40-BE8CE238CE2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82122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57922B-A9DC-4138-8E40-BE8CE238CE2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4673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57922B-A9DC-4138-8E40-BE8CE238CE27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2146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57922B-A9DC-4138-8E40-BE8CE238CE27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7959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557922B-A9DC-4138-8E40-BE8CE238CE27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1393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57922B-A9DC-4138-8E40-BE8CE238CE2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4848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02400" y="2484000"/>
            <a:ext cx="10353600" cy="144000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502400" y="3924000"/>
            <a:ext cx="4320000" cy="540000"/>
          </a:xfrm>
        </p:spPr>
        <p:txBody>
          <a:bodyPr anchor="ctr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  <a:latin typeface="+mj-lt"/>
                <a:ea typeface="微軟正黑體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1502834" y="4464051"/>
            <a:ext cx="2400300" cy="360363"/>
          </a:xfrm>
          <a:prstGeom prst="rect">
            <a:avLst/>
          </a:prstGeom>
        </p:spPr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600" b="1" dirty="0">
                <a:solidFill>
                  <a:schemeClr val="bg1"/>
                </a:solidFill>
                <a:latin typeface="+mj-lt"/>
                <a:ea typeface="微軟正黑體" pitchFamily="34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3962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0000" y="252000"/>
            <a:ext cx="10560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20000" y="980728"/>
            <a:ext cx="10560000" cy="5391272"/>
          </a:xfrm>
        </p:spPr>
        <p:txBody>
          <a:bodyPr/>
          <a:lstStyle>
            <a:lvl1pPr>
              <a:spcBef>
                <a:spcPts val="1000"/>
              </a:spcBef>
              <a:buSzPct val="90000"/>
              <a:buFont typeface="Noto Sans CJK TC Regular" pitchFamily="34" charset="-120"/>
              <a:buChar char="◉"/>
              <a:defRPr sz="2400"/>
            </a:lvl1pPr>
            <a:lvl2pPr>
              <a:spcBef>
                <a:spcPts val="1000"/>
              </a:spcBef>
              <a:buSzPct val="90000"/>
              <a:buFont typeface="Noto Sans CJK TC Regular" pitchFamily="34" charset="-120"/>
              <a:buChar char="◉"/>
              <a:defRPr sz="2000"/>
            </a:lvl2pPr>
            <a:lvl3pPr>
              <a:spcBef>
                <a:spcPts val="1000"/>
              </a:spcBef>
              <a:buSzPct val="90000"/>
              <a:buFont typeface="Noto Sans CJK TC Regular" pitchFamily="34" charset="-120"/>
              <a:buChar char="◉"/>
              <a:defRPr sz="1800"/>
            </a:lvl3pPr>
            <a:lvl4pPr>
              <a:spcBef>
                <a:spcPts val="1000"/>
              </a:spcBef>
              <a:buSzPct val="90000"/>
              <a:buFont typeface="Noto Sans CJK TC Regular" pitchFamily="34" charset="-120"/>
              <a:buChar char="◉"/>
              <a:defRPr sz="1600"/>
            </a:lvl4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3906921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4"/>
          </a:xfrm>
        </p:spPr>
        <p:txBody>
          <a:bodyPr anchor="t"/>
          <a:lstStyle>
            <a:lvl1pPr algn="l">
              <a:defRPr sz="3600" b="1" cap="all">
                <a:solidFill>
                  <a:srgbClr val="3D3935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rgbClr val="3D3935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84372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0000" y="252000"/>
            <a:ext cx="10560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20000" y="1152000"/>
            <a:ext cx="5280000" cy="4438800"/>
          </a:xfrm>
        </p:spPr>
        <p:txBody>
          <a:bodyPr/>
          <a:lstStyle>
            <a:lvl1pPr>
              <a:buSzPct val="90000"/>
              <a:buFont typeface="Noto Sans CJK TC Regular" pitchFamily="34" charset="-120"/>
              <a:buChar char="◉"/>
              <a:defRPr sz="2400"/>
            </a:lvl1pPr>
            <a:lvl2pPr marL="914400" indent="-342000">
              <a:buSzPct val="90000"/>
              <a:buFont typeface="Noto Sans CJK TC Regular" pitchFamily="34" charset="-120"/>
              <a:buChar char="◉"/>
              <a:defRPr sz="2000"/>
            </a:lvl2pPr>
            <a:lvl3pPr>
              <a:buSzPct val="90000"/>
              <a:buFont typeface="Noto Sans CJK TC Regular" pitchFamily="34" charset="-120"/>
              <a:buChar char="◉"/>
              <a:defRPr sz="1800"/>
            </a:lvl3pPr>
            <a:lvl4pPr>
              <a:buSzPct val="90000"/>
              <a:buFont typeface="Noto Sans CJK TC Regular" pitchFamily="34" charset="-120"/>
              <a:buChar char="◉"/>
              <a:defRPr sz="1600" baseline="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00000" y="1152000"/>
            <a:ext cx="5280000" cy="4438800"/>
          </a:xfrm>
        </p:spPr>
        <p:txBody>
          <a:bodyPr/>
          <a:lstStyle>
            <a:lvl1pPr>
              <a:buSzPct val="90000"/>
              <a:buFont typeface="Noto Sans CJK TC Regular" pitchFamily="34" charset="-120"/>
              <a:buChar char="◉"/>
              <a:defRPr sz="2400"/>
            </a:lvl1pPr>
            <a:lvl2pPr>
              <a:buSzPct val="90000"/>
              <a:buFont typeface="Noto Sans CJK TC Regular" pitchFamily="34" charset="-120"/>
              <a:buChar char="◉"/>
              <a:defRPr sz="2000"/>
            </a:lvl2pPr>
            <a:lvl3pPr marL="1371600" indent="-342000">
              <a:buSzPct val="90000"/>
              <a:buFont typeface="Noto Sans CJK TC Regular" pitchFamily="34" charset="-120"/>
              <a:buChar char="◉"/>
              <a:defRPr sz="1800"/>
            </a:lvl3pPr>
            <a:lvl4pPr marL="1714500" indent="-342900">
              <a:buSzPct val="90000"/>
              <a:buFont typeface="Noto Sans CJK TC Regular" pitchFamily="34" charset="-120"/>
              <a:buChar char="◉"/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855085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0000" y="252000"/>
            <a:ext cx="10560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19999" y="1152000"/>
            <a:ext cx="5280000" cy="90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719999" y="2060848"/>
            <a:ext cx="5280000" cy="4320000"/>
          </a:xfrm>
        </p:spPr>
        <p:txBody>
          <a:bodyPr/>
          <a:lstStyle>
            <a:lvl1pPr>
              <a:buSzPct val="90000"/>
              <a:buFont typeface="Noto Sans CJK TC Regular" pitchFamily="34" charset="-120"/>
              <a:buChar char="◉"/>
              <a:defRPr sz="2400"/>
            </a:lvl1pPr>
            <a:lvl2pPr>
              <a:buSzPct val="90000"/>
              <a:buFont typeface="Noto Sans CJK TC Regular" pitchFamily="34" charset="-120"/>
              <a:buChar char="◉"/>
              <a:defRPr sz="2000"/>
            </a:lvl2pPr>
            <a:lvl3pPr marL="1371600" indent="-342000">
              <a:buSzPct val="90000"/>
              <a:buFont typeface="Noto Sans CJK TC Regular" pitchFamily="34" charset="-120"/>
              <a:buChar char="◉"/>
              <a:defRPr sz="1800"/>
            </a:lvl3pPr>
            <a:lvl4pPr marL="1714500" indent="-342900">
              <a:buSzPct val="90000"/>
              <a:buFont typeface="Noto Sans CJK TC Regular" pitchFamily="34" charset="-120"/>
              <a:buChar char="◉"/>
              <a:defRPr sz="16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5999989" y="1152000"/>
            <a:ext cx="5280000" cy="90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999989" y="2060848"/>
            <a:ext cx="5280000" cy="4320000"/>
          </a:xfrm>
        </p:spPr>
        <p:txBody>
          <a:bodyPr/>
          <a:lstStyle>
            <a:lvl1pPr>
              <a:buSzPct val="90000"/>
              <a:buFont typeface="Noto Sans CJK TC Regular" pitchFamily="34" charset="-120"/>
              <a:buChar char="◉"/>
              <a:defRPr sz="2400" baseline="0"/>
            </a:lvl1pPr>
            <a:lvl2pPr>
              <a:buSzPct val="90000"/>
              <a:buFont typeface="Noto Sans CJK TC Regular" pitchFamily="34" charset="-120"/>
              <a:buChar char="◉"/>
              <a:defRPr sz="2000"/>
            </a:lvl2pPr>
            <a:lvl3pPr marL="1371600" indent="-342000">
              <a:buSzPct val="90000"/>
              <a:buFont typeface="Noto Sans CJK TC Regular" pitchFamily="34" charset="-120"/>
              <a:buChar char="◉"/>
              <a:defRPr sz="1800"/>
            </a:lvl3pPr>
            <a:lvl4pPr marL="1714500" indent="-342900">
              <a:buSzPct val="90000"/>
              <a:buFont typeface="Noto Sans CJK TC Regular" pitchFamily="34" charset="-120"/>
              <a:buChar char="◉"/>
              <a:defRPr sz="16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2112150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0000" y="252000"/>
            <a:ext cx="10560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7592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8166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0000" y="252000"/>
            <a:ext cx="10560000" cy="720000"/>
          </a:xfrm>
        </p:spPr>
        <p:txBody>
          <a:bodyPr anchor="b"/>
          <a:lstStyle>
            <a:lvl1pPr algn="l">
              <a:defRPr sz="4000" b="1" baseline="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60000" y="1152000"/>
            <a:ext cx="6720000" cy="4870570"/>
          </a:xfrm>
        </p:spPr>
        <p:txBody>
          <a:bodyPr/>
          <a:lstStyle>
            <a:lvl1pPr>
              <a:buSzPct val="90000"/>
              <a:buFont typeface="Noto Sans CJK TC Regular" pitchFamily="34" charset="-120"/>
              <a:buChar char="◉"/>
              <a:defRPr sz="2400"/>
            </a:lvl1pPr>
            <a:lvl2pPr indent="-342000">
              <a:buSzPct val="90000"/>
              <a:buFont typeface="Noto Sans CJK TC Regular" pitchFamily="34" charset="-120"/>
              <a:buChar char="◉"/>
              <a:defRPr sz="2000"/>
            </a:lvl2pPr>
            <a:lvl3pPr marL="1371600" indent="-342000">
              <a:buSzPct val="90000"/>
              <a:buFont typeface="Noto Sans CJK TC Regular" pitchFamily="34" charset="-120"/>
              <a:buChar char="◉"/>
              <a:defRPr sz="1800" baseline="0"/>
            </a:lvl3pPr>
            <a:lvl4pPr marL="1714500" indent="-342000">
              <a:buSzPct val="90000"/>
              <a:buFont typeface="Noto Sans CJK TC Regular" pitchFamily="34" charset="-120"/>
              <a:buChar char="◉"/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20000" y="1152001"/>
            <a:ext cx="3840000" cy="48705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880019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761186"/>
            <a:ext cx="7315200" cy="700748"/>
          </a:xfrm>
        </p:spPr>
        <p:txBody>
          <a:bodyPr/>
          <a:lstStyle>
            <a:lvl1pPr algn="l">
              <a:defRPr sz="3600"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1292775"/>
            <a:ext cx="7315200" cy="3468411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dirty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461936"/>
            <a:ext cx="7315200" cy="804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846939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0000" y="252000"/>
            <a:ext cx="10560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buSzPct val="90000"/>
              <a:buFont typeface="Noto Sans CJK TC Regular" pitchFamily="34" charset="-120"/>
              <a:buChar char="◉"/>
              <a:defRPr sz="2400"/>
            </a:lvl1pPr>
            <a:lvl2pPr indent="-342000">
              <a:buSzPct val="90000"/>
              <a:buFont typeface="Noto Sans CJK TC Regular" pitchFamily="34" charset="-120"/>
              <a:buChar char="◉"/>
              <a:defRPr sz="2000"/>
            </a:lvl2pPr>
            <a:lvl3pPr marL="1371600" indent="-342000">
              <a:buSzPct val="90000"/>
              <a:buFont typeface="Noto Sans CJK TC Regular" pitchFamily="34" charset="-120"/>
              <a:buChar char="◉"/>
              <a:defRPr sz="1800"/>
            </a:lvl3pPr>
            <a:lvl4pPr marL="1714500" indent="-342000">
              <a:buSzPct val="90000"/>
              <a:buFont typeface="Noto Sans CJK TC Regular" pitchFamily="34" charset="-120"/>
              <a:buChar char="◉"/>
              <a:defRPr sz="1800"/>
            </a:lvl4pPr>
            <a:lvl5pPr>
              <a:defRPr sz="16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2174159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202982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6485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295736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 cover pag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1503554" y="2485032"/>
            <a:ext cx="10353087" cy="1440000"/>
          </a:xfrm>
        </p:spPr>
        <p:txBody>
          <a:bodyPr lIns="36000" tIns="36000" rIns="36000" bIns="36000" anchor="ctr">
            <a:normAutofit/>
          </a:bodyPr>
          <a:lstStyle>
            <a:lvl1pPr>
              <a:defRPr sz="3600" b="1" i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r>
              <a:rPr kumimoji="1" lang="zh-TW" altLang="en-US" dirty="0"/>
              <a:t>簡報標題</a:t>
            </a:r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1503552" y="4464000"/>
            <a:ext cx="3360000" cy="360000"/>
          </a:xfrm>
          <a:prstGeom prst="rect">
            <a:avLst/>
          </a:prstGeom>
        </p:spPr>
        <p:txBody>
          <a:bodyPr vert="horz" lIns="36000" tIns="36000" rIns="36000" bIns="3600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0" i="0" kern="1200">
                <a:solidFill>
                  <a:schemeClr val="bg1"/>
                </a:solidFill>
                <a:latin typeface="Noto Sans CJK TC Medium" charset="-120"/>
                <a:ea typeface="Noto Sans CJK TC Medium" charset="-120"/>
                <a:cs typeface="Noto Sans CJK TC Medium" charset="-120"/>
              </a:defRPr>
            </a:lvl1pPr>
          </a:lstStyle>
          <a:p>
            <a:pPr algn="l"/>
            <a:endParaRPr kumimoji="1" lang="zh-TW" altLang="en-US" sz="1800" b="0" i="0" dirty="0">
              <a:solidFill>
                <a:schemeClr val="bg1"/>
              </a:solidFill>
              <a:latin typeface="+mn-lt"/>
              <a:ea typeface="+mn-ea"/>
              <a:cs typeface="Noto Sans CJK TC" charset="-120"/>
            </a:endParaRP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11" hasCustomPrompt="1"/>
          </p:nvPr>
        </p:nvSpPr>
        <p:spPr>
          <a:xfrm>
            <a:off x="1503553" y="3924000"/>
            <a:ext cx="4320000" cy="540000"/>
          </a:xfr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+mn-lt"/>
                <a:ea typeface="+mj-ea"/>
                <a:cs typeface="Noto Sans CJK TC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dirty="0"/>
              <a:t>報告部門</a:t>
            </a:r>
            <a:r>
              <a:rPr lang="en-US" altLang="zh-TW" dirty="0"/>
              <a:t>/</a:t>
            </a:r>
            <a:r>
              <a:rPr lang="zh-TW" altLang="en-US" dirty="0"/>
              <a:t>報告人員</a:t>
            </a:r>
          </a:p>
        </p:txBody>
      </p:sp>
    </p:spTree>
    <p:extLst>
      <p:ext uri="{BB962C8B-B14F-4D97-AF65-F5344CB8AC3E}">
        <p14:creationId xmlns:p14="http://schemas.microsoft.com/office/powerpoint/2010/main" val="30159823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ing page">
    <p:bg bwMode="gray">
      <p:bgPr>
        <a:blipFill dpi="0" rotWithShape="0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7656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項目 / 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>
          <a:xfrm>
            <a:off x="11616000" y="6480000"/>
            <a:ext cx="403200" cy="302400"/>
          </a:xfrm>
          <a:prstGeom prst="rect">
            <a:avLst/>
          </a:prstGeom>
        </p:spPr>
        <p:txBody>
          <a:bodyPr/>
          <a:lstStyle/>
          <a:p>
            <a:fld id="{4D9C94CB-DE13-4B61-9D86-0774D047C8B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文字版面配置區 6"/>
          <p:cNvSpPr>
            <a:spLocks noGrp="1"/>
          </p:cNvSpPr>
          <p:nvPr>
            <p:ph idx="1" hasCustomPrompt="1"/>
          </p:nvPr>
        </p:nvSpPr>
        <p:spPr>
          <a:xfrm>
            <a:off x="720000" y="1152000"/>
            <a:ext cx="10560576" cy="522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SzPct val="130000"/>
              <a:defRPr sz="2400" b="0" i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  <a:lvl2pPr>
              <a:buSzPct val="130000"/>
              <a:defRPr sz="2000" b="0" i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defRPr>
            </a:lvl2pPr>
            <a:lvl3pPr>
              <a:buSzPct val="130000"/>
              <a:defRPr sz="1800" b="0" i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defRPr>
            </a:lvl3pPr>
            <a:lvl4pPr>
              <a:buSzPct val="130000"/>
              <a:defRPr sz="1600" b="0" i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defRPr>
            </a:lvl4pPr>
          </a:lstStyle>
          <a:p>
            <a:pPr lvl="0"/>
            <a:r>
              <a:rPr kumimoji="1" lang="zh-TW" altLang="en-US" dirty="0"/>
              <a:t>第一層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720000" y="252000"/>
            <a:ext cx="10560576" cy="720000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8702151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02400" y="2484000"/>
            <a:ext cx="10353600" cy="144000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502400" y="3924000"/>
            <a:ext cx="4320000" cy="540000"/>
          </a:xfrm>
        </p:spPr>
        <p:txBody>
          <a:bodyPr anchor="ctr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  <a:latin typeface="+mj-lt"/>
                <a:ea typeface="微軟正黑體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1502834" y="4464051"/>
            <a:ext cx="2400300" cy="360363"/>
          </a:xfrm>
          <a:prstGeom prst="rect">
            <a:avLst/>
          </a:prstGeom>
        </p:spPr>
        <p:txBody>
          <a:bodyPr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600" b="1" dirty="0">
                <a:solidFill>
                  <a:schemeClr val="bg1"/>
                </a:solidFill>
                <a:latin typeface="+mj-lt"/>
                <a:ea typeface="微軟正黑體" pitchFamily="34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47728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0000" y="252000"/>
            <a:ext cx="10560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20000" y="980728"/>
            <a:ext cx="10560000" cy="5391272"/>
          </a:xfrm>
        </p:spPr>
        <p:txBody>
          <a:bodyPr/>
          <a:lstStyle>
            <a:lvl1pPr>
              <a:spcBef>
                <a:spcPts val="1000"/>
              </a:spcBef>
              <a:buSzPct val="90000"/>
              <a:buFont typeface="Noto Sans CJK TC Regular" pitchFamily="34" charset="-120"/>
              <a:buChar char="◉"/>
              <a:defRPr sz="2400"/>
            </a:lvl1pPr>
            <a:lvl2pPr>
              <a:spcBef>
                <a:spcPts val="1000"/>
              </a:spcBef>
              <a:buSzPct val="90000"/>
              <a:buFont typeface="Noto Sans CJK TC Regular" pitchFamily="34" charset="-120"/>
              <a:buChar char="◉"/>
              <a:defRPr sz="2000"/>
            </a:lvl2pPr>
            <a:lvl3pPr>
              <a:spcBef>
                <a:spcPts val="1000"/>
              </a:spcBef>
              <a:buSzPct val="90000"/>
              <a:buFont typeface="Noto Sans CJK TC Regular" pitchFamily="34" charset="-120"/>
              <a:buChar char="◉"/>
              <a:defRPr sz="1800"/>
            </a:lvl3pPr>
            <a:lvl4pPr>
              <a:spcBef>
                <a:spcPts val="1000"/>
              </a:spcBef>
              <a:buSzPct val="90000"/>
              <a:buFont typeface="Noto Sans CJK TC Regular" pitchFamily="34" charset="-120"/>
              <a:buChar char="◉"/>
              <a:defRPr sz="1600"/>
            </a:lvl4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5839952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4"/>
          </a:xfrm>
        </p:spPr>
        <p:txBody>
          <a:bodyPr anchor="t"/>
          <a:lstStyle>
            <a:lvl1pPr algn="l">
              <a:defRPr sz="3600" b="1" cap="all">
                <a:solidFill>
                  <a:srgbClr val="3D3935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rgbClr val="3D3935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142023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0000" y="252000"/>
            <a:ext cx="10560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20000" y="1152000"/>
            <a:ext cx="5280000" cy="4438800"/>
          </a:xfrm>
        </p:spPr>
        <p:txBody>
          <a:bodyPr/>
          <a:lstStyle>
            <a:lvl1pPr>
              <a:buSzPct val="90000"/>
              <a:buFont typeface="Noto Sans CJK TC Regular" pitchFamily="34" charset="-120"/>
              <a:buChar char="◉"/>
              <a:defRPr sz="2400"/>
            </a:lvl1pPr>
            <a:lvl2pPr marL="914400" indent="-342000">
              <a:buSzPct val="90000"/>
              <a:buFont typeface="Noto Sans CJK TC Regular" pitchFamily="34" charset="-120"/>
              <a:buChar char="◉"/>
              <a:defRPr sz="2000"/>
            </a:lvl2pPr>
            <a:lvl3pPr>
              <a:buSzPct val="90000"/>
              <a:buFont typeface="Noto Sans CJK TC Regular" pitchFamily="34" charset="-120"/>
              <a:buChar char="◉"/>
              <a:defRPr sz="1800"/>
            </a:lvl3pPr>
            <a:lvl4pPr>
              <a:buSzPct val="90000"/>
              <a:buFont typeface="Noto Sans CJK TC Regular" pitchFamily="34" charset="-120"/>
              <a:buChar char="◉"/>
              <a:defRPr sz="1600" baseline="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00000" y="1152000"/>
            <a:ext cx="5280000" cy="4438800"/>
          </a:xfrm>
        </p:spPr>
        <p:txBody>
          <a:bodyPr/>
          <a:lstStyle>
            <a:lvl1pPr>
              <a:buSzPct val="90000"/>
              <a:buFont typeface="Noto Sans CJK TC Regular" pitchFamily="34" charset="-120"/>
              <a:buChar char="◉"/>
              <a:defRPr sz="2400"/>
            </a:lvl1pPr>
            <a:lvl2pPr>
              <a:buSzPct val="90000"/>
              <a:buFont typeface="Noto Sans CJK TC Regular" pitchFamily="34" charset="-120"/>
              <a:buChar char="◉"/>
              <a:defRPr sz="2000"/>
            </a:lvl2pPr>
            <a:lvl3pPr marL="1371600" indent="-342000">
              <a:buSzPct val="90000"/>
              <a:buFont typeface="Noto Sans CJK TC Regular" pitchFamily="34" charset="-120"/>
              <a:buChar char="◉"/>
              <a:defRPr sz="1800"/>
            </a:lvl3pPr>
            <a:lvl4pPr marL="1714500" indent="-342900">
              <a:buSzPct val="90000"/>
              <a:buFont typeface="Noto Sans CJK TC Regular" pitchFamily="34" charset="-120"/>
              <a:buChar char="◉"/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3799624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0000" y="252000"/>
            <a:ext cx="10560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19999" y="1152000"/>
            <a:ext cx="5280000" cy="90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719999" y="2060848"/>
            <a:ext cx="5280000" cy="4320000"/>
          </a:xfrm>
        </p:spPr>
        <p:txBody>
          <a:bodyPr/>
          <a:lstStyle>
            <a:lvl1pPr>
              <a:buSzPct val="90000"/>
              <a:buFont typeface="Noto Sans CJK TC Regular" pitchFamily="34" charset="-120"/>
              <a:buChar char="◉"/>
              <a:defRPr sz="2400"/>
            </a:lvl1pPr>
            <a:lvl2pPr>
              <a:buSzPct val="90000"/>
              <a:buFont typeface="Noto Sans CJK TC Regular" pitchFamily="34" charset="-120"/>
              <a:buChar char="◉"/>
              <a:defRPr sz="2000"/>
            </a:lvl2pPr>
            <a:lvl3pPr marL="1371600" indent="-342000">
              <a:buSzPct val="90000"/>
              <a:buFont typeface="Noto Sans CJK TC Regular" pitchFamily="34" charset="-120"/>
              <a:buChar char="◉"/>
              <a:defRPr sz="1800"/>
            </a:lvl3pPr>
            <a:lvl4pPr marL="1714500" indent="-342900">
              <a:buSzPct val="90000"/>
              <a:buFont typeface="Noto Sans CJK TC Regular" pitchFamily="34" charset="-120"/>
              <a:buChar char="◉"/>
              <a:defRPr sz="16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5999989" y="1152000"/>
            <a:ext cx="5280000" cy="90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999989" y="2060848"/>
            <a:ext cx="5280000" cy="4320000"/>
          </a:xfrm>
        </p:spPr>
        <p:txBody>
          <a:bodyPr/>
          <a:lstStyle>
            <a:lvl1pPr>
              <a:buSzPct val="90000"/>
              <a:buFont typeface="Noto Sans CJK TC Regular" pitchFamily="34" charset="-120"/>
              <a:buChar char="◉"/>
              <a:defRPr sz="2400" baseline="0"/>
            </a:lvl1pPr>
            <a:lvl2pPr>
              <a:buSzPct val="90000"/>
              <a:buFont typeface="Noto Sans CJK TC Regular" pitchFamily="34" charset="-120"/>
              <a:buChar char="◉"/>
              <a:defRPr sz="2000"/>
            </a:lvl2pPr>
            <a:lvl3pPr marL="1371600" indent="-342000">
              <a:buSzPct val="90000"/>
              <a:buFont typeface="Noto Sans CJK TC Regular" pitchFamily="34" charset="-120"/>
              <a:buChar char="◉"/>
              <a:defRPr sz="1800"/>
            </a:lvl3pPr>
            <a:lvl4pPr marL="1714500" indent="-342900">
              <a:buSzPct val="90000"/>
              <a:buFont typeface="Noto Sans CJK TC Regular" pitchFamily="34" charset="-120"/>
              <a:buChar char="◉"/>
              <a:defRPr sz="16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28835539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0000" y="252000"/>
            <a:ext cx="10560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81010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7809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0000" y="252000"/>
            <a:ext cx="10560000" cy="720000"/>
          </a:xfrm>
        </p:spPr>
        <p:txBody>
          <a:bodyPr anchor="b"/>
          <a:lstStyle>
            <a:lvl1pPr algn="l">
              <a:defRPr sz="4000" b="1" baseline="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60000" y="1152000"/>
            <a:ext cx="6720000" cy="4870570"/>
          </a:xfrm>
        </p:spPr>
        <p:txBody>
          <a:bodyPr/>
          <a:lstStyle>
            <a:lvl1pPr>
              <a:buSzPct val="90000"/>
              <a:buFont typeface="Noto Sans CJK TC Regular" pitchFamily="34" charset="-120"/>
              <a:buChar char="◉"/>
              <a:defRPr sz="2400"/>
            </a:lvl1pPr>
            <a:lvl2pPr indent="-342000">
              <a:buSzPct val="90000"/>
              <a:buFont typeface="Noto Sans CJK TC Regular" pitchFamily="34" charset="-120"/>
              <a:buChar char="◉"/>
              <a:defRPr sz="2000"/>
            </a:lvl2pPr>
            <a:lvl3pPr marL="1371600" indent="-342000">
              <a:buSzPct val="90000"/>
              <a:buFont typeface="Noto Sans CJK TC Regular" pitchFamily="34" charset="-120"/>
              <a:buChar char="◉"/>
              <a:defRPr sz="1800" baseline="0"/>
            </a:lvl3pPr>
            <a:lvl4pPr marL="1714500" indent="-342000">
              <a:buSzPct val="90000"/>
              <a:buFont typeface="Noto Sans CJK TC Regular" pitchFamily="34" charset="-120"/>
              <a:buChar char="◉"/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20000" y="1152001"/>
            <a:ext cx="3840000" cy="48705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5638205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761186"/>
            <a:ext cx="7315200" cy="700748"/>
          </a:xfrm>
        </p:spPr>
        <p:txBody>
          <a:bodyPr/>
          <a:lstStyle>
            <a:lvl1pPr algn="l">
              <a:defRPr sz="3600"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1292775"/>
            <a:ext cx="7315200" cy="3468411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dirty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461936"/>
            <a:ext cx="7315200" cy="804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8953547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0000" y="252000"/>
            <a:ext cx="10560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buSzPct val="90000"/>
              <a:buFont typeface="Noto Sans CJK TC Regular" pitchFamily="34" charset="-120"/>
              <a:buChar char="◉"/>
              <a:defRPr sz="2400"/>
            </a:lvl1pPr>
            <a:lvl2pPr indent="-342000">
              <a:buSzPct val="90000"/>
              <a:buFont typeface="Noto Sans CJK TC Regular" pitchFamily="34" charset="-120"/>
              <a:buChar char="◉"/>
              <a:defRPr sz="2000"/>
            </a:lvl2pPr>
            <a:lvl3pPr marL="1371600" indent="-342000">
              <a:buSzPct val="90000"/>
              <a:buFont typeface="Noto Sans CJK TC Regular" pitchFamily="34" charset="-120"/>
              <a:buChar char="◉"/>
              <a:defRPr sz="1800"/>
            </a:lvl3pPr>
            <a:lvl4pPr marL="1714500" indent="-342000">
              <a:buSzPct val="90000"/>
              <a:buFont typeface="Noto Sans CJK TC Regular" pitchFamily="34" charset="-120"/>
              <a:buChar char="◉"/>
              <a:defRPr sz="1800"/>
            </a:lvl4pPr>
            <a:lvl5pPr>
              <a:defRPr sz="16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28985039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936715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2459955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9469762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 cover pag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1503554" y="2485032"/>
            <a:ext cx="10353087" cy="1440000"/>
          </a:xfrm>
        </p:spPr>
        <p:txBody>
          <a:bodyPr lIns="36000" tIns="36000" rIns="36000" bIns="36000" anchor="ctr">
            <a:normAutofit/>
          </a:bodyPr>
          <a:lstStyle>
            <a:lvl1pPr>
              <a:defRPr sz="3600" b="1" i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r>
              <a:rPr kumimoji="1" lang="zh-TW" altLang="en-US" dirty="0"/>
              <a:t>簡報標題</a:t>
            </a:r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1503552" y="4464000"/>
            <a:ext cx="3360000" cy="360000"/>
          </a:xfrm>
          <a:prstGeom prst="rect">
            <a:avLst/>
          </a:prstGeom>
        </p:spPr>
        <p:txBody>
          <a:bodyPr vert="horz" lIns="36000" tIns="36000" rIns="36000" bIns="3600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0" i="0" kern="1200">
                <a:solidFill>
                  <a:schemeClr val="bg1"/>
                </a:solidFill>
                <a:latin typeface="Noto Sans CJK TC Medium" charset="-120"/>
                <a:ea typeface="Noto Sans CJK TC Medium" charset="-120"/>
                <a:cs typeface="Noto Sans CJK TC Medium" charset="-120"/>
              </a:defRPr>
            </a:lvl1pPr>
          </a:lstStyle>
          <a:p>
            <a:pPr algn="l"/>
            <a:endParaRPr kumimoji="1" lang="zh-TW" altLang="en-US" sz="1800" b="0" i="0" dirty="0">
              <a:solidFill>
                <a:schemeClr val="bg1"/>
              </a:solidFill>
              <a:latin typeface="+mn-lt"/>
              <a:ea typeface="+mn-ea"/>
              <a:cs typeface="Noto Sans CJK TC" charset="-120"/>
            </a:endParaRP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11" hasCustomPrompt="1"/>
          </p:nvPr>
        </p:nvSpPr>
        <p:spPr>
          <a:xfrm>
            <a:off x="1503553" y="3924000"/>
            <a:ext cx="4320000" cy="540000"/>
          </a:xfrm>
        </p:spPr>
        <p:txBody>
          <a:bodyPr lIns="36000" tIns="36000" rIns="36000" bIns="36000"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+mn-lt"/>
                <a:ea typeface="+mj-ea"/>
                <a:cs typeface="Noto Sans CJK TC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dirty="0"/>
              <a:t>報告部門</a:t>
            </a:r>
            <a:r>
              <a:rPr lang="en-US" altLang="zh-TW" dirty="0"/>
              <a:t>/</a:t>
            </a:r>
            <a:r>
              <a:rPr lang="zh-TW" altLang="en-US" dirty="0"/>
              <a:t>報告人員</a:t>
            </a:r>
          </a:p>
        </p:txBody>
      </p:sp>
    </p:spTree>
    <p:extLst>
      <p:ext uri="{BB962C8B-B14F-4D97-AF65-F5344CB8AC3E}">
        <p14:creationId xmlns:p14="http://schemas.microsoft.com/office/powerpoint/2010/main" val="36201932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項目 / 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>
          <a:xfrm>
            <a:off x="11616000" y="6480000"/>
            <a:ext cx="403200" cy="302400"/>
          </a:xfrm>
          <a:prstGeom prst="rect">
            <a:avLst/>
          </a:prstGeom>
        </p:spPr>
        <p:txBody>
          <a:bodyPr/>
          <a:lstStyle/>
          <a:p>
            <a:fld id="{4D9C94CB-DE13-4B61-9D86-0774D047C8B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文字版面配置區 6"/>
          <p:cNvSpPr>
            <a:spLocks noGrp="1"/>
          </p:cNvSpPr>
          <p:nvPr>
            <p:ph idx="1" hasCustomPrompt="1"/>
          </p:nvPr>
        </p:nvSpPr>
        <p:spPr>
          <a:xfrm>
            <a:off x="720000" y="1152000"/>
            <a:ext cx="10560576" cy="522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SzPct val="130000"/>
              <a:defRPr sz="2400" b="0" i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  <a:lvl2pPr>
              <a:buSzPct val="130000"/>
              <a:defRPr sz="2000" b="0" i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defRPr>
            </a:lvl2pPr>
            <a:lvl3pPr>
              <a:buSzPct val="130000"/>
              <a:defRPr sz="1800" b="0" i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defRPr>
            </a:lvl3pPr>
            <a:lvl4pPr>
              <a:buSzPct val="130000"/>
              <a:defRPr sz="1600" b="0" i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defRPr>
            </a:lvl4pPr>
          </a:lstStyle>
          <a:p>
            <a:pPr lvl="0"/>
            <a:r>
              <a:rPr kumimoji="1" lang="zh-TW" altLang="en-US" dirty="0"/>
              <a:t>第一層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720000" y="252000"/>
            <a:ext cx="10560576" cy="720000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6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044567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18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719667" y="252414"/>
            <a:ext cx="10560051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36000" rIns="36000" bIns="360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標題</a:t>
            </a:r>
            <a:r>
              <a:rPr lang="en-US" altLang="zh-TW" dirty="0"/>
              <a:t>(36-40pt)</a:t>
            </a:r>
            <a:endParaRPr lang="zh-TW" altLang="en-US" dirty="0"/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719667" y="980729"/>
            <a:ext cx="10560051" cy="5391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第一層 </a:t>
            </a:r>
            <a:r>
              <a:rPr lang="en-US" altLang="zh-TW"/>
              <a:t>(24pt)</a:t>
            </a:r>
          </a:p>
          <a:p>
            <a:pPr lvl="1"/>
            <a:r>
              <a:rPr lang="zh-TW" altLang="en-US"/>
              <a:t>第二層 </a:t>
            </a:r>
            <a:r>
              <a:rPr lang="en-US" altLang="zh-TW"/>
              <a:t>(20pt)</a:t>
            </a:r>
          </a:p>
          <a:p>
            <a:pPr lvl="2"/>
            <a:r>
              <a:rPr lang="zh-TW" altLang="en-US"/>
              <a:t>第三層 </a:t>
            </a:r>
            <a:r>
              <a:rPr lang="en-US" altLang="zh-TW"/>
              <a:t>(18pt)</a:t>
            </a:r>
          </a:p>
          <a:p>
            <a:pPr lvl="3"/>
            <a:r>
              <a:rPr lang="zh-TW" altLang="en-US"/>
              <a:t>第四層</a:t>
            </a:r>
            <a:r>
              <a:rPr lang="en-US" altLang="zh-TW"/>
              <a:t>(16pt)</a:t>
            </a:r>
            <a:endParaRPr lang="zh-TW" altLang="en-US"/>
          </a:p>
          <a:p>
            <a:pPr lvl="0"/>
            <a:endParaRPr lang="zh-TW" altLang="en-US"/>
          </a:p>
        </p:txBody>
      </p:sp>
      <p:sp>
        <p:nvSpPr>
          <p:cNvPr id="9" name="投影片編號版面配置區 5"/>
          <p:cNvSpPr txBox="1">
            <a:spLocks/>
          </p:cNvSpPr>
          <p:nvPr/>
        </p:nvSpPr>
        <p:spPr>
          <a:xfrm>
            <a:off x="11423651" y="6354763"/>
            <a:ext cx="719667" cy="539750"/>
          </a:xfrm>
          <a:prstGeom prst="rect">
            <a:avLst/>
          </a:prstGeom>
        </p:spPr>
        <p:txBody>
          <a:bodyPr lIns="36000" tIns="36000" rIns="36000" bIns="36000" anchor="ctr"/>
          <a:lstStyle>
            <a:lvl1pPr defTabSz="457200"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9pPr>
          </a:lstStyle>
          <a:p>
            <a:pPr algn="ctr"/>
            <a:fld id="{44640F1D-A90F-44BD-A366-B13D0169BECF}" type="slidenum">
              <a:rPr kumimoji="0" lang="zh-TW" altLang="en-US" sz="1400" b="1">
                <a:solidFill>
                  <a:srgbClr val="FF8200"/>
                </a:solidFill>
                <a:ea typeface="Arial Unicode MS" pitchFamily="34" charset="-120"/>
                <a:cs typeface="Arial Unicode MS" pitchFamily="34" charset="-120"/>
              </a:rPr>
              <a:pPr algn="ctr"/>
              <a:t>‹#›</a:t>
            </a:fld>
            <a:endParaRPr kumimoji="0" lang="zh-TW" altLang="en-US" sz="1200" b="1" dirty="0">
              <a:solidFill>
                <a:srgbClr val="FF8200"/>
              </a:solidFill>
              <a:ea typeface="Arial Unicode MS" pitchFamily="34" charset="-120"/>
              <a:cs typeface="Arial Unicode MS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6" r:id="rId14"/>
    <p:sldLayoutId id="2147483719" r:id="rId15"/>
    <p:sldLayoutId id="2147483803" r:id="rId16"/>
  </p:sldLayoutIdLst>
  <p:hf sldNum="0"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600" b="1" kern="1200">
          <a:solidFill>
            <a:srgbClr val="3D3935"/>
          </a:solidFill>
          <a:latin typeface="+mj-lt"/>
          <a:ea typeface="微軟正黑體" pitchFamily="34" charset="-120"/>
          <a:cs typeface="Arial Unicode MS" pitchFamily="34" charset="-120"/>
        </a:defRPr>
      </a:lvl1pPr>
      <a:lvl2pPr algn="l" defTabSz="457200" rtl="0" fontAlgn="base">
        <a:spcBef>
          <a:spcPct val="0"/>
        </a:spcBef>
        <a:spcAft>
          <a:spcPct val="0"/>
        </a:spcAft>
        <a:defRPr sz="3600" b="1">
          <a:solidFill>
            <a:srgbClr val="3D3935"/>
          </a:solidFill>
          <a:latin typeface="Calibri" pitchFamily="34" charset="0"/>
          <a:ea typeface="微軟正黑體" pitchFamily="34" charset="-120"/>
          <a:cs typeface="Arial Unicode MS" pitchFamily="34" charset="-120"/>
        </a:defRPr>
      </a:lvl2pPr>
      <a:lvl3pPr algn="l" defTabSz="457200" rtl="0" fontAlgn="base">
        <a:spcBef>
          <a:spcPct val="0"/>
        </a:spcBef>
        <a:spcAft>
          <a:spcPct val="0"/>
        </a:spcAft>
        <a:defRPr sz="3600" b="1">
          <a:solidFill>
            <a:srgbClr val="3D3935"/>
          </a:solidFill>
          <a:latin typeface="Calibri" pitchFamily="34" charset="0"/>
          <a:ea typeface="微軟正黑體" pitchFamily="34" charset="-120"/>
          <a:cs typeface="Arial Unicode MS" pitchFamily="34" charset="-120"/>
        </a:defRPr>
      </a:lvl3pPr>
      <a:lvl4pPr algn="l" defTabSz="457200" rtl="0" fontAlgn="base">
        <a:spcBef>
          <a:spcPct val="0"/>
        </a:spcBef>
        <a:spcAft>
          <a:spcPct val="0"/>
        </a:spcAft>
        <a:defRPr sz="3600" b="1">
          <a:solidFill>
            <a:srgbClr val="3D3935"/>
          </a:solidFill>
          <a:latin typeface="Calibri" pitchFamily="34" charset="0"/>
          <a:ea typeface="微軟正黑體" pitchFamily="34" charset="-120"/>
          <a:cs typeface="Arial Unicode MS" pitchFamily="34" charset="-120"/>
        </a:defRPr>
      </a:lvl4pPr>
      <a:lvl5pPr algn="l" defTabSz="457200" rtl="0" fontAlgn="base">
        <a:spcBef>
          <a:spcPct val="0"/>
        </a:spcBef>
        <a:spcAft>
          <a:spcPct val="0"/>
        </a:spcAft>
        <a:defRPr sz="3600" b="1">
          <a:solidFill>
            <a:srgbClr val="3D3935"/>
          </a:solidFill>
          <a:latin typeface="Calibri" pitchFamily="34" charset="0"/>
          <a:ea typeface="微軟正黑體" pitchFamily="34" charset="-120"/>
          <a:cs typeface="Arial Unicode MS" pitchFamily="34" charset="-12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F6AC19"/>
          </a:solidFill>
          <a:latin typeface="微軟正黑體" pitchFamily="34" charset="-120"/>
          <a:ea typeface="微軟正黑體" pitchFamily="34" charset="-120"/>
          <a:cs typeface="Arial Unicode MS" pitchFamily="34" charset="-12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F6AC19"/>
          </a:solidFill>
          <a:latin typeface="微軟正黑體" pitchFamily="34" charset="-120"/>
          <a:ea typeface="微軟正黑體" pitchFamily="34" charset="-120"/>
          <a:cs typeface="Arial Unicode MS" pitchFamily="34" charset="-12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F6AC19"/>
          </a:solidFill>
          <a:latin typeface="微軟正黑體" pitchFamily="34" charset="-120"/>
          <a:ea typeface="微軟正黑體" pitchFamily="34" charset="-120"/>
          <a:cs typeface="Arial Unicode MS" pitchFamily="34" charset="-12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F6AC19"/>
          </a:solidFill>
          <a:latin typeface="微軟正黑體" pitchFamily="34" charset="-120"/>
          <a:ea typeface="微軟正黑體" pitchFamily="34" charset="-120"/>
          <a:cs typeface="Arial Unicode MS" pitchFamily="34" charset="-120"/>
        </a:defRPr>
      </a:lvl9pPr>
    </p:titleStyle>
    <p:bodyStyle>
      <a:lvl1pPr marL="342900" indent="-342900" algn="l" defTabSz="457200" rtl="0" fontAlgn="base">
        <a:lnSpc>
          <a:spcPct val="150000"/>
        </a:lnSpc>
        <a:spcBef>
          <a:spcPts val="1000"/>
        </a:spcBef>
        <a:spcAft>
          <a:spcPct val="0"/>
        </a:spcAft>
        <a:buClr>
          <a:srgbClr val="FF8200"/>
        </a:buClr>
        <a:buSzPct val="90000"/>
        <a:buFont typeface="Noto Sans CJK TC Regular" pitchFamily="34" charset="-120"/>
        <a:buChar char="◉"/>
        <a:defRPr sz="2400" kern="1200">
          <a:solidFill>
            <a:srgbClr val="3D3935"/>
          </a:solidFill>
          <a:latin typeface="+mj-lt"/>
          <a:ea typeface="微軟正黑體" pitchFamily="34" charset="-120"/>
          <a:cs typeface="Arial Unicode MS" pitchFamily="34" charset="-120"/>
        </a:defRPr>
      </a:lvl1pPr>
      <a:lvl2pPr marL="914400" indent="-341313" algn="l" defTabSz="457200" rtl="0" fontAlgn="base">
        <a:lnSpc>
          <a:spcPct val="150000"/>
        </a:lnSpc>
        <a:spcBef>
          <a:spcPts val="1000"/>
        </a:spcBef>
        <a:spcAft>
          <a:spcPct val="0"/>
        </a:spcAft>
        <a:buClr>
          <a:srgbClr val="F4DA3C"/>
        </a:buClr>
        <a:buSzPct val="90000"/>
        <a:buFont typeface="Noto Sans CJK TC Regular" pitchFamily="34" charset="-120"/>
        <a:buChar char="◉"/>
        <a:defRPr sz="2000" kern="1200">
          <a:solidFill>
            <a:srgbClr val="3D3935"/>
          </a:solidFill>
          <a:latin typeface="+mj-lt"/>
          <a:ea typeface="微軟正黑體" pitchFamily="34" charset="-120"/>
          <a:cs typeface="Arial Unicode MS" pitchFamily="34" charset="-120"/>
        </a:defRPr>
      </a:lvl2pPr>
      <a:lvl3pPr marL="1143000" indent="-341313" algn="l" defTabSz="457200" rtl="0" fontAlgn="base">
        <a:lnSpc>
          <a:spcPct val="150000"/>
        </a:lnSpc>
        <a:spcBef>
          <a:spcPts val="1000"/>
        </a:spcBef>
        <a:spcAft>
          <a:spcPct val="0"/>
        </a:spcAft>
        <a:buClr>
          <a:srgbClr val="00B0B9"/>
        </a:buClr>
        <a:buSzPct val="90000"/>
        <a:buFont typeface="Noto Sans CJK TC Regular" pitchFamily="34" charset="-120"/>
        <a:buChar char="◉"/>
        <a:defRPr kern="1200">
          <a:solidFill>
            <a:srgbClr val="3D3935"/>
          </a:solidFill>
          <a:latin typeface="+mj-lt"/>
          <a:ea typeface="微軟正黑體" pitchFamily="34" charset="-120"/>
          <a:cs typeface="Arial Unicode MS" pitchFamily="34" charset="-120"/>
        </a:defRPr>
      </a:lvl3pPr>
      <a:lvl4pPr marL="1600200" indent="-341313" algn="l" defTabSz="457200" rtl="0" fontAlgn="base">
        <a:lnSpc>
          <a:spcPct val="150000"/>
        </a:lnSpc>
        <a:spcBef>
          <a:spcPts val="1000"/>
        </a:spcBef>
        <a:spcAft>
          <a:spcPct val="0"/>
        </a:spcAft>
        <a:buClr>
          <a:srgbClr val="C1C6C8"/>
        </a:buClr>
        <a:buSzPct val="90000"/>
        <a:buFont typeface="Noto Sans CJK TC Regular" pitchFamily="34" charset="-120"/>
        <a:buChar char="◉"/>
        <a:defRPr sz="1600" kern="1200">
          <a:solidFill>
            <a:srgbClr val="3D3935"/>
          </a:solidFill>
          <a:latin typeface="+mj-lt"/>
          <a:ea typeface="微軟正黑體" pitchFamily="34" charset="-120"/>
          <a:cs typeface="Arial Unicode MS" pitchFamily="34" charset="-120"/>
        </a:defRPr>
      </a:lvl4pPr>
      <a:lvl5pPr marL="2057400" indent="-228600" algn="l" defTabSz="457200" rtl="0" fontAlgn="base">
        <a:spcBef>
          <a:spcPts val="800"/>
        </a:spcBef>
        <a:spcAft>
          <a:spcPct val="0"/>
        </a:spcAft>
        <a:buClr>
          <a:srgbClr val="262626"/>
        </a:buClr>
        <a:defRPr sz="14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Arial Unicode MS" pitchFamily="34" charset="-12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719667" y="252414"/>
            <a:ext cx="10560051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36000" rIns="36000" bIns="360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標題</a:t>
            </a:r>
            <a:r>
              <a:rPr lang="en-US" altLang="zh-TW" dirty="0"/>
              <a:t>(36-40pt)</a:t>
            </a:r>
            <a:endParaRPr lang="zh-TW" altLang="en-US" dirty="0"/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719667" y="980729"/>
            <a:ext cx="10560051" cy="5391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第一層 </a:t>
            </a:r>
            <a:r>
              <a:rPr lang="en-US" altLang="zh-TW"/>
              <a:t>(24pt)</a:t>
            </a:r>
          </a:p>
          <a:p>
            <a:pPr lvl="1"/>
            <a:r>
              <a:rPr lang="zh-TW" altLang="en-US"/>
              <a:t>第二層 </a:t>
            </a:r>
            <a:r>
              <a:rPr lang="en-US" altLang="zh-TW"/>
              <a:t>(20pt)</a:t>
            </a:r>
          </a:p>
          <a:p>
            <a:pPr lvl="2"/>
            <a:r>
              <a:rPr lang="zh-TW" altLang="en-US"/>
              <a:t>第三層 </a:t>
            </a:r>
            <a:r>
              <a:rPr lang="en-US" altLang="zh-TW"/>
              <a:t>(18pt)</a:t>
            </a:r>
          </a:p>
          <a:p>
            <a:pPr lvl="3"/>
            <a:r>
              <a:rPr lang="zh-TW" altLang="en-US"/>
              <a:t>第四層</a:t>
            </a:r>
            <a:r>
              <a:rPr lang="en-US" altLang="zh-TW"/>
              <a:t>(16pt)</a:t>
            </a:r>
            <a:endParaRPr lang="zh-TW" altLang="en-US"/>
          </a:p>
          <a:p>
            <a:pPr lvl="0"/>
            <a:endParaRPr lang="zh-TW" altLang="en-US"/>
          </a:p>
        </p:txBody>
      </p:sp>
      <p:sp>
        <p:nvSpPr>
          <p:cNvPr id="9" name="投影片編號版面配置區 5"/>
          <p:cNvSpPr txBox="1">
            <a:spLocks/>
          </p:cNvSpPr>
          <p:nvPr/>
        </p:nvSpPr>
        <p:spPr>
          <a:xfrm>
            <a:off x="11423651" y="6354763"/>
            <a:ext cx="719667" cy="539750"/>
          </a:xfrm>
          <a:prstGeom prst="rect">
            <a:avLst/>
          </a:prstGeom>
        </p:spPr>
        <p:txBody>
          <a:bodyPr lIns="36000" tIns="36000" rIns="36000" bIns="36000" anchor="ctr"/>
          <a:lstStyle>
            <a:lvl1pPr defTabSz="457200"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9pPr>
          </a:lstStyle>
          <a:p>
            <a:pPr algn="ctr"/>
            <a:fld id="{44640F1D-A90F-44BD-A366-B13D0169BECF}" type="slidenum">
              <a:rPr kumimoji="0" lang="zh-TW" altLang="en-US" sz="1400" b="1">
                <a:solidFill>
                  <a:srgbClr val="FF8200"/>
                </a:solidFill>
                <a:ea typeface="Arial Unicode MS" pitchFamily="34" charset="-120"/>
                <a:cs typeface="Arial Unicode MS" pitchFamily="34" charset="-120"/>
              </a:rPr>
              <a:pPr algn="ctr"/>
              <a:t>‹#›</a:t>
            </a:fld>
            <a:endParaRPr kumimoji="0" lang="zh-TW" altLang="en-US" sz="1200" b="1" dirty="0">
              <a:solidFill>
                <a:srgbClr val="FF8200"/>
              </a:solidFill>
              <a:ea typeface="Arial Unicode MS" pitchFamily="34" charset="-120"/>
              <a:cs typeface="Arial Unicode M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62855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  <p:sldLayoutId id="2147483848" r:id="rId12"/>
    <p:sldLayoutId id="2147483849" r:id="rId13"/>
    <p:sldLayoutId id="2147483850" r:id="rId14"/>
    <p:sldLayoutId id="2147483851" r:id="rId15"/>
  </p:sldLayoutIdLst>
  <p:hf sldNum="0"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600" b="1" kern="1200">
          <a:solidFill>
            <a:srgbClr val="3D3935"/>
          </a:solidFill>
          <a:latin typeface="+mj-lt"/>
          <a:ea typeface="微軟正黑體" pitchFamily="34" charset="-120"/>
          <a:cs typeface="Arial Unicode MS" pitchFamily="34" charset="-120"/>
        </a:defRPr>
      </a:lvl1pPr>
      <a:lvl2pPr algn="l" defTabSz="457200" rtl="0" fontAlgn="base">
        <a:spcBef>
          <a:spcPct val="0"/>
        </a:spcBef>
        <a:spcAft>
          <a:spcPct val="0"/>
        </a:spcAft>
        <a:defRPr sz="3600" b="1">
          <a:solidFill>
            <a:srgbClr val="3D3935"/>
          </a:solidFill>
          <a:latin typeface="Calibri" pitchFamily="34" charset="0"/>
          <a:ea typeface="微軟正黑體" pitchFamily="34" charset="-120"/>
          <a:cs typeface="Arial Unicode MS" pitchFamily="34" charset="-120"/>
        </a:defRPr>
      </a:lvl2pPr>
      <a:lvl3pPr algn="l" defTabSz="457200" rtl="0" fontAlgn="base">
        <a:spcBef>
          <a:spcPct val="0"/>
        </a:spcBef>
        <a:spcAft>
          <a:spcPct val="0"/>
        </a:spcAft>
        <a:defRPr sz="3600" b="1">
          <a:solidFill>
            <a:srgbClr val="3D3935"/>
          </a:solidFill>
          <a:latin typeface="Calibri" pitchFamily="34" charset="0"/>
          <a:ea typeface="微軟正黑體" pitchFamily="34" charset="-120"/>
          <a:cs typeface="Arial Unicode MS" pitchFamily="34" charset="-120"/>
        </a:defRPr>
      </a:lvl3pPr>
      <a:lvl4pPr algn="l" defTabSz="457200" rtl="0" fontAlgn="base">
        <a:spcBef>
          <a:spcPct val="0"/>
        </a:spcBef>
        <a:spcAft>
          <a:spcPct val="0"/>
        </a:spcAft>
        <a:defRPr sz="3600" b="1">
          <a:solidFill>
            <a:srgbClr val="3D3935"/>
          </a:solidFill>
          <a:latin typeface="Calibri" pitchFamily="34" charset="0"/>
          <a:ea typeface="微軟正黑體" pitchFamily="34" charset="-120"/>
          <a:cs typeface="Arial Unicode MS" pitchFamily="34" charset="-120"/>
        </a:defRPr>
      </a:lvl4pPr>
      <a:lvl5pPr algn="l" defTabSz="457200" rtl="0" fontAlgn="base">
        <a:spcBef>
          <a:spcPct val="0"/>
        </a:spcBef>
        <a:spcAft>
          <a:spcPct val="0"/>
        </a:spcAft>
        <a:defRPr sz="3600" b="1">
          <a:solidFill>
            <a:srgbClr val="3D3935"/>
          </a:solidFill>
          <a:latin typeface="Calibri" pitchFamily="34" charset="0"/>
          <a:ea typeface="微軟正黑體" pitchFamily="34" charset="-120"/>
          <a:cs typeface="Arial Unicode MS" pitchFamily="34" charset="-12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F6AC19"/>
          </a:solidFill>
          <a:latin typeface="微軟正黑體" pitchFamily="34" charset="-120"/>
          <a:ea typeface="微軟正黑體" pitchFamily="34" charset="-120"/>
          <a:cs typeface="Arial Unicode MS" pitchFamily="34" charset="-12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F6AC19"/>
          </a:solidFill>
          <a:latin typeface="微軟正黑體" pitchFamily="34" charset="-120"/>
          <a:ea typeface="微軟正黑體" pitchFamily="34" charset="-120"/>
          <a:cs typeface="Arial Unicode MS" pitchFamily="34" charset="-12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F6AC19"/>
          </a:solidFill>
          <a:latin typeface="微軟正黑體" pitchFamily="34" charset="-120"/>
          <a:ea typeface="微軟正黑體" pitchFamily="34" charset="-120"/>
          <a:cs typeface="Arial Unicode MS" pitchFamily="34" charset="-12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F6AC19"/>
          </a:solidFill>
          <a:latin typeface="微軟正黑體" pitchFamily="34" charset="-120"/>
          <a:ea typeface="微軟正黑體" pitchFamily="34" charset="-120"/>
          <a:cs typeface="Arial Unicode MS" pitchFamily="34" charset="-120"/>
        </a:defRPr>
      </a:lvl9pPr>
    </p:titleStyle>
    <p:bodyStyle>
      <a:lvl1pPr marL="342900" indent="-342900" algn="l" defTabSz="457200" rtl="0" fontAlgn="base">
        <a:lnSpc>
          <a:spcPct val="150000"/>
        </a:lnSpc>
        <a:spcBef>
          <a:spcPts val="1000"/>
        </a:spcBef>
        <a:spcAft>
          <a:spcPct val="0"/>
        </a:spcAft>
        <a:buClr>
          <a:srgbClr val="FF8200"/>
        </a:buClr>
        <a:buSzPct val="90000"/>
        <a:buFont typeface="Noto Sans CJK TC Regular" pitchFamily="34" charset="-120"/>
        <a:buChar char="◉"/>
        <a:defRPr sz="2400" kern="1200">
          <a:solidFill>
            <a:srgbClr val="3D3935"/>
          </a:solidFill>
          <a:latin typeface="+mj-lt"/>
          <a:ea typeface="微軟正黑體" pitchFamily="34" charset="-120"/>
          <a:cs typeface="Arial Unicode MS" pitchFamily="34" charset="-120"/>
        </a:defRPr>
      </a:lvl1pPr>
      <a:lvl2pPr marL="914400" indent="-341313" algn="l" defTabSz="457200" rtl="0" fontAlgn="base">
        <a:lnSpc>
          <a:spcPct val="150000"/>
        </a:lnSpc>
        <a:spcBef>
          <a:spcPts val="1000"/>
        </a:spcBef>
        <a:spcAft>
          <a:spcPct val="0"/>
        </a:spcAft>
        <a:buClr>
          <a:srgbClr val="F4DA3C"/>
        </a:buClr>
        <a:buSzPct val="90000"/>
        <a:buFont typeface="Noto Sans CJK TC Regular" pitchFamily="34" charset="-120"/>
        <a:buChar char="◉"/>
        <a:defRPr sz="2000" kern="1200">
          <a:solidFill>
            <a:srgbClr val="3D3935"/>
          </a:solidFill>
          <a:latin typeface="+mj-lt"/>
          <a:ea typeface="微軟正黑體" pitchFamily="34" charset="-120"/>
          <a:cs typeface="Arial Unicode MS" pitchFamily="34" charset="-120"/>
        </a:defRPr>
      </a:lvl2pPr>
      <a:lvl3pPr marL="1143000" indent="-341313" algn="l" defTabSz="457200" rtl="0" fontAlgn="base">
        <a:lnSpc>
          <a:spcPct val="150000"/>
        </a:lnSpc>
        <a:spcBef>
          <a:spcPts val="1000"/>
        </a:spcBef>
        <a:spcAft>
          <a:spcPct val="0"/>
        </a:spcAft>
        <a:buClr>
          <a:srgbClr val="00B0B9"/>
        </a:buClr>
        <a:buSzPct val="90000"/>
        <a:buFont typeface="Noto Sans CJK TC Regular" pitchFamily="34" charset="-120"/>
        <a:buChar char="◉"/>
        <a:defRPr kern="1200">
          <a:solidFill>
            <a:srgbClr val="3D3935"/>
          </a:solidFill>
          <a:latin typeface="+mj-lt"/>
          <a:ea typeface="微軟正黑體" pitchFamily="34" charset="-120"/>
          <a:cs typeface="Arial Unicode MS" pitchFamily="34" charset="-120"/>
        </a:defRPr>
      </a:lvl3pPr>
      <a:lvl4pPr marL="1600200" indent="-341313" algn="l" defTabSz="457200" rtl="0" fontAlgn="base">
        <a:lnSpc>
          <a:spcPct val="150000"/>
        </a:lnSpc>
        <a:spcBef>
          <a:spcPts val="1000"/>
        </a:spcBef>
        <a:spcAft>
          <a:spcPct val="0"/>
        </a:spcAft>
        <a:buClr>
          <a:srgbClr val="C1C6C8"/>
        </a:buClr>
        <a:buSzPct val="90000"/>
        <a:buFont typeface="Noto Sans CJK TC Regular" pitchFamily="34" charset="-120"/>
        <a:buChar char="◉"/>
        <a:defRPr sz="1600" kern="1200">
          <a:solidFill>
            <a:srgbClr val="3D3935"/>
          </a:solidFill>
          <a:latin typeface="+mj-lt"/>
          <a:ea typeface="微軟正黑體" pitchFamily="34" charset="-120"/>
          <a:cs typeface="Arial Unicode MS" pitchFamily="34" charset="-120"/>
        </a:defRPr>
      </a:lvl4pPr>
      <a:lvl5pPr marL="2057400" indent="-228600" algn="l" defTabSz="457200" rtl="0" fontAlgn="base">
        <a:spcBef>
          <a:spcPts val="800"/>
        </a:spcBef>
        <a:spcAft>
          <a:spcPct val="0"/>
        </a:spcAft>
        <a:buClr>
          <a:srgbClr val="262626"/>
        </a:buClr>
        <a:defRPr sz="14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Arial Unicode MS" pitchFamily="34" charset="-12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標題 1"/>
          <p:cNvSpPr>
            <a:spLocks noGrp="1"/>
          </p:cNvSpPr>
          <p:nvPr>
            <p:ph type="ctrTitle"/>
          </p:nvPr>
        </p:nvSpPr>
        <p:spPr>
          <a:xfrm>
            <a:off x="1502836" y="2484438"/>
            <a:ext cx="10352617" cy="1439863"/>
          </a:xfrm>
        </p:spPr>
        <p:txBody>
          <a:bodyPr/>
          <a:lstStyle/>
          <a:p>
            <a:r>
              <a:rPr lang="zh-TW" altLang="en-US" dirty="0"/>
              <a:t>王道理專月會</a:t>
            </a:r>
          </a:p>
        </p:txBody>
      </p:sp>
      <p:sp>
        <p:nvSpPr>
          <p:cNvPr id="4100" name="文字方塊 4"/>
          <p:cNvSpPr txBox="1">
            <a:spLocks noChangeArrowheads="1"/>
          </p:cNvSpPr>
          <p:nvPr/>
        </p:nvSpPr>
        <p:spPr bwMode="auto">
          <a:xfrm>
            <a:off x="1502834" y="4464051"/>
            <a:ext cx="1640837" cy="420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9pPr>
          </a:lstStyle>
          <a:p>
            <a:r>
              <a:rPr kumimoji="0" lang="en-US" altLang="zh-TW" sz="2133" dirty="0">
                <a:solidFill>
                  <a:schemeClr val="bg1"/>
                </a:solidFill>
              </a:rPr>
              <a:t>2025/12/26</a:t>
            </a:r>
          </a:p>
        </p:txBody>
      </p:sp>
    </p:spTree>
    <p:extLst>
      <p:ext uri="{BB962C8B-B14F-4D97-AF65-F5344CB8AC3E}">
        <p14:creationId xmlns:p14="http://schemas.microsoft.com/office/powerpoint/2010/main" val="91866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6BAF61C4-C37F-4A1F-9142-7590A1B2E93C}"/>
              </a:ext>
            </a:extLst>
          </p:cNvPr>
          <p:cNvSpPr txBox="1">
            <a:spLocks/>
          </p:cNvSpPr>
          <p:nvPr/>
        </p:nvSpPr>
        <p:spPr bwMode="auto">
          <a:xfrm>
            <a:off x="551384" y="620688"/>
            <a:ext cx="10560000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>
            <a:lvl1pPr algn="l" defTabSz="457200" rtl="0" fontAlgn="base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3D3935"/>
                </a:solidFill>
                <a:latin typeface="+mj-lt"/>
                <a:ea typeface="微軟正黑體" pitchFamily="34" charset="-120"/>
                <a:cs typeface="Arial Unicode MS" pitchFamily="34" charset="-120"/>
              </a:defRPr>
            </a:lvl1pPr>
            <a:lvl2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2pPr>
            <a:lvl3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3pPr>
            <a:lvl4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4pPr>
            <a:lvl5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3D3935"/>
              </a:solidFill>
              <a:effectLst/>
              <a:uLnTx/>
              <a:uFillTx/>
              <a:latin typeface="Calibri"/>
              <a:ea typeface="微軟正黑體" pitchFamily="34" charset="-12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7606AD70-E813-4E81-93E9-EB9A113E372E}"/>
              </a:ext>
            </a:extLst>
          </p:cNvPr>
          <p:cNvSpPr txBox="1">
            <a:spLocks/>
          </p:cNvSpPr>
          <p:nvPr/>
        </p:nvSpPr>
        <p:spPr bwMode="auto">
          <a:xfrm>
            <a:off x="720000" y="332656"/>
            <a:ext cx="1113664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>
            <a:lvl1pPr algn="l" defTabSz="457200" rtl="0" fontAlgn="base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3D3935"/>
                </a:solidFill>
                <a:latin typeface="+mj-lt"/>
                <a:ea typeface="微軟正黑體" pitchFamily="34" charset="-120"/>
                <a:cs typeface="Arial Unicode MS" pitchFamily="34" charset="-120"/>
              </a:defRPr>
            </a:lvl1pPr>
            <a:lvl2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2pPr>
            <a:lvl3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3pPr>
            <a:lvl4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4pPr>
            <a:lvl5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D3935"/>
                </a:solidFill>
                <a:effectLst/>
                <a:uLnTx/>
                <a:uFillTx/>
                <a:latin typeface="Calibri"/>
                <a:ea typeface="微軟正黑體" pitchFamily="34" charset="-120"/>
              </a:rPr>
              <a:t>總結</a:t>
            </a:r>
            <a:endParaRPr kumimoji="0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highlight>
                <a:srgbClr val="FFFF00"/>
              </a:highlight>
              <a:uLnTx/>
              <a:uFillTx/>
              <a:latin typeface="Calibri"/>
              <a:ea typeface="微軟正黑體" pitchFamily="34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D1BD4F7-ADC5-44C1-AD6B-2087DE47A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877932"/>
              </p:ext>
            </p:extLst>
          </p:nvPr>
        </p:nvGraphicFramePr>
        <p:xfrm>
          <a:off x="601994" y="894021"/>
          <a:ext cx="10800000" cy="550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464">
                  <a:extLst>
                    <a:ext uri="{9D8B030D-6E8A-4147-A177-3AD203B41FA5}">
                      <a16:colId xmlns:a16="http://schemas.microsoft.com/office/drawing/2014/main" val="4245371048"/>
                    </a:ext>
                  </a:extLst>
                </a:gridCol>
                <a:gridCol w="10068536">
                  <a:extLst>
                    <a:ext uri="{9D8B030D-6E8A-4147-A177-3AD203B41FA5}">
                      <a16:colId xmlns:a16="http://schemas.microsoft.com/office/drawing/2014/main" val="1436092230"/>
                    </a:ext>
                  </a:extLst>
                </a:gridCol>
              </a:tblGrid>
              <a:tr h="266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市場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展望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768521"/>
                  </a:ext>
                </a:extLst>
              </a:tr>
              <a:tr h="1100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TW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總體</a:t>
                      </a:r>
                      <a:endParaRPr lang="en-US" altLang="zh-TW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TW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經濟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目前美國景氣平緩略偏弱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，</a:t>
                      </a:r>
                      <a:r>
                        <a:rPr lang="zh-TW" altLang="en-US" sz="1600" b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但還不至於衰退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，其中排除政府就業變動後近兩月僅增加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萬人左右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明顯偏少，物價壓力也不高。</a:t>
                      </a:r>
                      <a:endParaRPr lang="en-US" altLang="zh-TW" sz="16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根據過往幾次景氣擴張與收縮期間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6~10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年，平均約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年，本次的景氣擴張期自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2020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年以來僅有五年，累積的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GDP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成長幅度亦未及於過去擴張期間的平均成長幅度，</a:t>
                      </a:r>
                      <a:r>
                        <a:rPr lang="zh-TW" altLang="en-US" sz="16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故衰退時候未到，未來一年景氣仍可維持成長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。</a:t>
                      </a:r>
                      <a:endParaRPr lang="en-US" altLang="zh-TW" sz="16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大多數機構預估今年台灣成長</a:t>
                      </a:r>
                      <a:r>
                        <a:rPr lang="en-US" altLang="zh-TW" sz="1600" b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7%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，</a:t>
                      </a:r>
                      <a:r>
                        <a:rPr lang="zh-TW" altLang="en-US" sz="1600" b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明年</a:t>
                      </a:r>
                      <a:r>
                        <a:rPr lang="en-US" altLang="zh-TW" sz="1600" b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3~4.5%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，主要受惠美國科技股資本支出的需求</a:t>
                      </a:r>
                      <a:r>
                        <a:rPr lang="zh-TW" altLang="en-US" sz="16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。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216663"/>
                  </a:ext>
                </a:extLst>
              </a:tr>
              <a:tr h="84644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債市</a:t>
                      </a:r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zh-TW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目前看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月底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FOMC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降息機率相對不高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，下次降息應該在年中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換主席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。</a:t>
                      </a:r>
                      <a:r>
                        <a:rPr lang="zh-TW" altLang="en-US" sz="16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除了今年的降息三碼的效應外，我們基本預期</a:t>
                      </a:r>
                      <a:r>
                        <a:rPr lang="en-US" altLang="zh-TW" sz="16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2026</a:t>
                      </a:r>
                      <a:r>
                        <a:rPr lang="zh-TW" altLang="en-US" sz="16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年全年可降息三碼。雖然長短利差可能偏擴大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，</a:t>
                      </a:r>
                      <a:r>
                        <a:rPr lang="zh-TW" altLang="en-US" sz="16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但是預期降息仍將對長率有向下拖曳的效果。</a:t>
                      </a:r>
                      <a:endParaRPr lang="en-US" altLang="zh-TW" sz="1600" b="0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根據過往經驗，</a:t>
                      </a:r>
                      <a:r>
                        <a:rPr lang="zh-TW" altLang="en-US" sz="1600" b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通常降息前殖利率會先跌</a:t>
                      </a:r>
                      <a:r>
                        <a:rPr lang="zh-TW" altLang="en-US" sz="16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，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推估最有利的買點約在降息前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3~5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個月左右，若以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2026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年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月中重啟降息推估，債券較佳的買點將落在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2026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年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1~3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月。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信用債價格指數保持穩定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。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484473"/>
                  </a:ext>
                </a:extLst>
              </a:tr>
              <a:tr h="1039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股市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美國科技股本益比在近日修正後已回到接近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年平均水準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那斯達克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28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倍左右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，近日部分美科技股股價回穩。</a:t>
                      </a:r>
                      <a:endParaRPr lang="en-US" altLang="zh-TW" sz="16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降息大多利好於股市本益比，而且在</a:t>
                      </a:r>
                      <a:r>
                        <a:rPr lang="zh-TW" altLang="en-US" sz="16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目前沒有衰退下的降息，對於股市的助益更將顯而易見。</a:t>
                      </a:r>
                      <a:endParaRPr lang="en-US" altLang="zh-TW" sz="1600" b="0" kern="1200" dirty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目前美股較類似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1990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年後半段，主因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(1)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股市主流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(2)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降息走走停停等較為相似，但不意味美股派對就要結束。主因目前美股獲利狀況較佳且估值也仍不到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2000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年時高峰</a:t>
                      </a:r>
                      <a:r>
                        <a:rPr lang="zh-TW" altLang="en-US" sz="16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。我們認為還有後續仍有上漲的空間與時間。</a:t>
                      </a:r>
                      <a:endParaRPr lang="en-US" altLang="zh-TW" sz="1600" b="0" kern="1200" dirty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en-US" sz="16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我們相對看好美股與台股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，基本面與成長性較佳。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135936"/>
                  </a:ext>
                </a:extLst>
              </a:tr>
              <a:tr h="4594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匯市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en-US" sz="16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美元近日略偏弱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，</a:t>
                      </a:r>
                      <a:r>
                        <a:rPr lang="zh-TW" altLang="en-US" sz="16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而且對應此前東亞貨幣如日圓韓圜及台幣均偏貶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，近日日韓貨幣當局及匯市主管機構已經開始關注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日圓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157.8=&gt;156.2 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韓圜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1485=&gt;1453)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，預期台灣貨幣當局也會開始調節台幣避免過度偏貶。</a:t>
                      </a:r>
                      <a:endParaRPr lang="en-US" altLang="zh-TW" sz="16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064441"/>
                  </a:ext>
                </a:extLst>
              </a:tr>
              <a:tr h="652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商品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金價此前盤整一段時間後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，近日又開始創高，</a:t>
                      </a:r>
                      <a:r>
                        <a:rPr lang="zh-TW" altLang="en-US" sz="16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部分原因或來自比特幣下跌後移轉的買盤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，中長期看漲。</a:t>
                      </a:r>
                      <a:endParaRPr lang="en-US" altLang="zh-TW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2026Q1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油市仍面臨嚴重供過於求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，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美國能源資訊管理局</a:t>
                      </a: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(EIA)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預估明年各季仍面臨嚴重的</a:t>
                      </a:r>
                      <a:r>
                        <a:rPr lang="zh-TW" altLang="en-US" sz="1600" b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供給過多</a:t>
                      </a:r>
                      <a:r>
                        <a:rPr lang="zh-TW" altLang="en-US" sz="16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，</a:t>
                      </a:r>
                      <a:r>
                        <a:rPr lang="zh-TW" altLang="en-US" sz="1600" b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尤其是</a:t>
                      </a:r>
                      <a:r>
                        <a:rPr lang="en-US" altLang="zh-TW" sz="1600" b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Q1</a:t>
                      </a:r>
                      <a:r>
                        <a:rPr lang="zh-TW" altLang="en-US" sz="1600" b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及</a:t>
                      </a:r>
                      <a:r>
                        <a:rPr lang="en-US" altLang="zh-TW" sz="1600" b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Q4</a:t>
                      </a:r>
                      <a:r>
                        <a:rPr lang="zh-TW" altLang="en-US" sz="16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，</a:t>
                      </a:r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油價預估偏下</a:t>
                      </a: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。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030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572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D337064-5EC4-43E9-A542-430AD135B3E8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620000"/>
            <a:ext cx="10800000" cy="468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95F53DF-B01F-49A1-B385-591863735903}"/>
              </a:ext>
            </a:extLst>
          </p:cNvPr>
          <p:cNvPicPr preferRelativeResize="0">
            <a:picLocks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482" y="74309"/>
            <a:ext cx="687600" cy="360000"/>
          </a:xfrm>
          <a:prstGeom prst="rect">
            <a:avLst/>
          </a:prstGeom>
        </p:spPr>
      </p:pic>
      <p:sp>
        <p:nvSpPr>
          <p:cNvPr id="6" name="Line 140">
            <a:extLst>
              <a:ext uri="{FF2B5EF4-FFF2-40B4-BE49-F238E27FC236}">
                <a16:creationId xmlns:a16="http://schemas.microsoft.com/office/drawing/2014/main" id="{5486BFB8-19D3-418F-9AC9-9869E48311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1464" y="237226"/>
            <a:ext cx="6026492" cy="8412"/>
          </a:xfrm>
          <a:prstGeom prst="line">
            <a:avLst/>
          </a:prstGeom>
          <a:noFill/>
          <a:ln w="9525">
            <a:solidFill>
              <a:srgbClr val="BAB184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447472D-323E-4C26-8298-E28223B501BB}"/>
              </a:ext>
            </a:extLst>
          </p:cNvPr>
          <p:cNvGrpSpPr/>
          <p:nvPr/>
        </p:nvGrpSpPr>
        <p:grpSpPr>
          <a:xfrm>
            <a:off x="7302082" y="116632"/>
            <a:ext cx="3978494" cy="244175"/>
            <a:chOff x="7302082" y="116632"/>
            <a:chExt cx="3978494" cy="244175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9570488A-19FA-453F-86A4-6A0BC1392929}"/>
                </a:ext>
              </a:extLst>
            </p:cNvPr>
            <p:cNvSpPr/>
            <p:nvPr/>
          </p:nvSpPr>
          <p:spPr>
            <a:xfrm>
              <a:off x="7302082" y="116632"/>
              <a:ext cx="993592" cy="242364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總體經濟</a:t>
              </a:r>
            </a:p>
          </p:txBody>
        </p: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0199AC4B-5C3F-447D-A9D9-E7165A4AC051}"/>
                </a:ext>
              </a:extLst>
            </p:cNvPr>
            <p:cNvSpPr/>
            <p:nvPr/>
          </p:nvSpPr>
          <p:spPr>
            <a:xfrm>
              <a:off x="8299800" y="116632"/>
              <a:ext cx="993592" cy="24236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股票市場</a:t>
              </a:r>
              <a:endParaRPr kumimoji="1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endParaRPr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4F9763EB-F265-405F-9FCC-DB537F969FF2}"/>
                </a:ext>
              </a:extLst>
            </p:cNvPr>
            <p:cNvSpPr/>
            <p:nvPr/>
          </p:nvSpPr>
          <p:spPr>
            <a:xfrm>
              <a:off x="9293392" y="116632"/>
              <a:ext cx="993592" cy="24236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利率</a:t>
              </a:r>
              <a:r>
                <a:rPr kumimoji="1" lang="en-US" altLang="zh-TW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,</a:t>
              </a: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債市</a:t>
              </a:r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743FD1A8-AC31-491B-9DAA-5C2273935695}"/>
                </a:ext>
              </a:extLst>
            </p:cNvPr>
            <p:cNvSpPr/>
            <p:nvPr/>
          </p:nvSpPr>
          <p:spPr>
            <a:xfrm>
              <a:off x="10286984" y="118443"/>
              <a:ext cx="993592" cy="24236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匯率市場</a:t>
              </a:r>
            </a:p>
          </p:txBody>
        </p:sp>
      </p:grpSp>
      <p:sp>
        <p:nvSpPr>
          <p:cNvPr id="12" name="標題 1">
            <a:extLst>
              <a:ext uri="{FF2B5EF4-FFF2-40B4-BE49-F238E27FC236}">
                <a16:creationId xmlns:a16="http://schemas.microsoft.com/office/drawing/2014/main" id="{8931ED6D-854E-4003-B410-B4A24893A671}"/>
              </a:ext>
            </a:extLst>
          </p:cNvPr>
          <p:cNvSpPr txBox="1">
            <a:spLocks/>
          </p:cNvSpPr>
          <p:nvPr/>
        </p:nvSpPr>
        <p:spPr bwMode="auto">
          <a:xfrm>
            <a:off x="720000" y="431998"/>
            <a:ext cx="11208648" cy="819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>
            <a:lvl1pPr algn="l" defTabSz="457200" rtl="0" fontAlgn="base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3D3935"/>
                </a:solidFill>
                <a:latin typeface="+mj-lt"/>
                <a:ea typeface="微軟正黑體" pitchFamily="34" charset="-120"/>
                <a:cs typeface="Arial Unicode MS" pitchFamily="34" charset="-120"/>
              </a:defRPr>
            </a:lvl1pPr>
            <a:lvl2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2pPr>
            <a:lvl3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3pPr>
            <a:lvl4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4pPr>
            <a:lvl5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9pPr>
          </a:lstStyle>
          <a:p>
            <a:pPr lvl="0">
              <a:defRPr/>
            </a:pPr>
            <a:r>
              <a:rPr kumimoji="0" lang="zh-TW" altLang="en-US" dirty="0">
                <a:latin typeface="微軟正黑體"/>
              </a:rPr>
              <a:t>川普提供烏克蘭類北約第五條的安全保障 利好於歐股</a:t>
            </a:r>
            <a:endParaRPr kumimoji="0" lang="en-US" altLang="zh-TW" dirty="0">
              <a:latin typeface="微軟正黑體"/>
            </a:endParaRPr>
          </a:p>
          <a:p>
            <a:pPr lvl="0">
              <a:defRPr/>
            </a:pPr>
            <a:r>
              <a:rPr kumimoji="0" lang="zh-TW" altLang="en-US" sz="2000" dirty="0">
                <a:solidFill>
                  <a:schemeClr val="tx1"/>
                </a:solidFill>
                <a:latin typeface="微軟正黑體"/>
              </a:rPr>
              <a:t>北約第五條是該組織的靈魂，體現</a:t>
            </a:r>
            <a:r>
              <a:rPr kumimoji="0" lang="en-US" altLang="zh-TW" sz="2000" dirty="0">
                <a:solidFill>
                  <a:schemeClr val="tx1"/>
                </a:solidFill>
                <a:latin typeface="微軟正黑體"/>
              </a:rPr>
              <a:t>(1)</a:t>
            </a:r>
            <a:r>
              <a:rPr kumimoji="0" lang="zh-TW" altLang="en-US" sz="2000" dirty="0">
                <a:solidFill>
                  <a:srgbClr val="0000FF"/>
                </a:solidFill>
                <a:latin typeface="微軟正黑體"/>
              </a:rPr>
              <a:t>集體防禦的精神</a:t>
            </a:r>
            <a:r>
              <a:rPr kumimoji="0" lang="en-US" altLang="zh-TW" sz="2000" dirty="0">
                <a:solidFill>
                  <a:schemeClr val="tx1"/>
                </a:solidFill>
                <a:latin typeface="微軟正黑體"/>
              </a:rPr>
              <a:t>(2)</a:t>
            </a:r>
            <a:r>
              <a:rPr kumimoji="0" lang="zh-TW" altLang="en-US" sz="2000" dirty="0">
                <a:solidFill>
                  <a:schemeClr val="tx1"/>
                </a:solidFill>
                <a:latin typeface="微軟正黑體"/>
              </a:rPr>
              <a:t>各國可行使自衛權</a:t>
            </a:r>
            <a:r>
              <a:rPr kumimoji="0" lang="en-US" altLang="zh-TW" sz="2000" dirty="0">
                <a:solidFill>
                  <a:schemeClr val="tx1"/>
                </a:solidFill>
                <a:latin typeface="微軟正黑體"/>
              </a:rPr>
              <a:t>(3)</a:t>
            </a:r>
            <a:r>
              <a:rPr kumimoji="0" lang="zh-TW" altLang="en-US" sz="2000" dirty="0">
                <a:solidFill>
                  <a:schemeClr val="tx1"/>
                </a:solidFill>
                <a:latin typeface="微軟正黑體"/>
              </a:rPr>
              <a:t>採取必要的行動</a:t>
            </a:r>
            <a:endParaRPr kumimoji="0" lang="en-US" altLang="zh-TW" sz="2000" dirty="0">
              <a:solidFill>
                <a:schemeClr val="tx1"/>
              </a:solidFill>
              <a:latin typeface="微軟正黑體"/>
            </a:endParaRPr>
          </a:p>
          <a:p>
            <a:pPr lvl="0">
              <a:defRPr/>
            </a:pPr>
            <a:r>
              <a:rPr kumimoji="0" lang="zh-TW" altLang="en-US" sz="1800" dirty="0">
                <a:solidFill>
                  <a:schemeClr val="tx1"/>
                </a:solidFill>
                <a:latin typeface="微軟正黑體"/>
              </a:rPr>
              <a:t>這些保證將提交美國參議院審議。目前雙方還是卡在領土問題。歐股</a:t>
            </a:r>
            <a:r>
              <a:rPr kumimoji="0" lang="en-US" altLang="zh-TW" sz="1800" dirty="0">
                <a:solidFill>
                  <a:schemeClr val="tx1"/>
                </a:solidFill>
                <a:latin typeface="微軟正黑體"/>
              </a:rPr>
              <a:t>STOXX600</a:t>
            </a:r>
            <a:r>
              <a:rPr kumimoji="0" lang="zh-TW" altLang="en-US" sz="1800" dirty="0">
                <a:solidFill>
                  <a:schemeClr val="tx1"/>
                </a:solidFill>
                <a:latin typeface="微軟正黑體"/>
              </a:rPr>
              <a:t>近日</a:t>
            </a:r>
            <a:r>
              <a:rPr kumimoji="0" lang="en-US" altLang="zh-TW" sz="1800" dirty="0">
                <a:solidFill>
                  <a:schemeClr val="tx1"/>
                </a:solidFill>
                <a:latin typeface="微軟正黑體"/>
              </a:rPr>
              <a:t>PE</a:t>
            </a:r>
            <a:r>
              <a:rPr kumimoji="0" lang="zh-TW" altLang="en-US" sz="1800" dirty="0">
                <a:solidFill>
                  <a:schemeClr val="tx1"/>
                </a:solidFill>
                <a:latin typeface="微軟正黑體"/>
              </a:rPr>
              <a:t>有微幅的回升。</a:t>
            </a:r>
            <a:endParaRPr kumimoji="0" lang="en-US" altLang="zh-TW" sz="1800" dirty="0">
              <a:solidFill>
                <a:schemeClr val="tx1"/>
              </a:solidFill>
              <a:latin typeface="微軟正黑體"/>
            </a:endParaRPr>
          </a:p>
          <a:p>
            <a:pPr lvl="0">
              <a:defRPr/>
            </a:pPr>
            <a:endParaRPr kumimoji="0" lang="en-US" altLang="zh-TW" dirty="0">
              <a:latin typeface="微軟正黑體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5A5F2F1-9E23-44F1-B06B-5FE456293AF2}"/>
              </a:ext>
            </a:extLst>
          </p:cNvPr>
          <p:cNvSpPr txBox="1"/>
          <p:nvPr/>
        </p:nvSpPr>
        <p:spPr>
          <a:xfrm>
            <a:off x="8431921" y="6449639"/>
            <a:ext cx="3034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圖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\</a:t>
            </a: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表 資料來源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:Bloomberg</a:t>
            </a:r>
            <a:endParaRPr kumimoji="0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BD5B90D-EAF1-406A-85AA-38DBAAC14B16}"/>
              </a:ext>
            </a:extLst>
          </p:cNvPr>
          <p:cNvSpPr txBox="1"/>
          <p:nvPr/>
        </p:nvSpPr>
        <p:spPr>
          <a:xfrm>
            <a:off x="6888088" y="2924944"/>
            <a:ext cx="226895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歐股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STOXX600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指數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預估本益比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預估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EPS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5596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95F53DF-B01F-49A1-B385-591863735903}"/>
              </a:ext>
            </a:extLst>
          </p:cNvPr>
          <p:cNvPicPr preferRelativeResize="0">
            <a:picLocks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482" y="74309"/>
            <a:ext cx="687600" cy="360000"/>
          </a:xfrm>
          <a:prstGeom prst="rect">
            <a:avLst/>
          </a:prstGeom>
        </p:spPr>
      </p:pic>
      <p:sp>
        <p:nvSpPr>
          <p:cNvPr id="6" name="Line 140">
            <a:extLst>
              <a:ext uri="{FF2B5EF4-FFF2-40B4-BE49-F238E27FC236}">
                <a16:creationId xmlns:a16="http://schemas.microsoft.com/office/drawing/2014/main" id="{5486BFB8-19D3-418F-9AC9-9869E48311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1464" y="237226"/>
            <a:ext cx="6026492" cy="8412"/>
          </a:xfrm>
          <a:prstGeom prst="line">
            <a:avLst/>
          </a:prstGeom>
          <a:noFill/>
          <a:ln w="9525">
            <a:solidFill>
              <a:srgbClr val="BAB184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447472D-323E-4C26-8298-E28223B501BB}"/>
              </a:ext>
            </a:extLst>
          </p:cNvPr>
          <p:cNvGrpSpPr/>
          <p:nvPr/>
        </p:nvGrpSpPr>
        <p:grpSpPr>
          <a:xfrm>
            <a:off x="7302082" y="116632"/>
            <a:ext cx="3978494" cy="244175"/>
            <a:chOff x="7302082" y="116632"/>
            <a:chExt cx="3978494" cy="244175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9570488A-19FA-453F-86A4-6A0BC1392929}"/>
                </a:ext>
              </a:extLst>
            </p:cNvPr>
            <p:cNvSpPr/>
            <p:nvPr/>
          </p:nvSpPr>
          <p:spPr>
            <a:xfrm>
              <a:off x="7302082" y="116632"/>
              <a:ext cx="993592" cy="24236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總體經濟</a:t>
              </a:r>
            </a:p>
          </p:txBody>
        </p: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0199AC4B-5C3F-447D-A9D9-E7165A4AC051}"/>
                </a:ext>
              </a:extLst>
            </p:cNvPr>
            <p:cNvSpPr/>
            <p:nvPr/>
          </p:nvSpPr>
          <p:spPr>
            <a:xfrm>
              <a:off x="8299800" y="116632"/>
              <a:ext cx="993592" cy="24236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股票市場</a:t>
              </a:r>
              <a:endParaRPr kumimoji="1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endParaRPr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4F9763EB-F265-405F-9FCC-DB537F969FF2}"/>
                </a:ext>
              </a:extLst>
            </p:cNvPr>
            <p:cNvSpPr/>
            <p:nvPr/>
          </p:nvSpPr>
          <p:spPr>
            <a:xfrm>
              <a:off x="9293392" y="116632"/>
              <a:ext cx="993592" cy="24236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利率</a:t>
              </a:r>
              <a:r>
                <a:rPr kumimoji="1" lang="en-US" altLang="zh-TW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,</a:t>
              </a: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債市</a:t>
              </a:r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743FD1A8-AC31-491B-9DAA-5C2273935695}"/>
                </a:ext>
              </a:extLst>
            </p:cNvPr>
            <p:cNvSpPr/>
            <p:nvPr/>
          </p:nvSpPr>
          <p:spPr>
            <a:xfrm>
              <a:off x="10286984" y="118443"/>
              <a:ext cx="993592" cy="242364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TW" altLang="en-US" sz="1000" dirty="0">
                  <a:solidFill>
                    <a:sysClr val="window" lastClr="FFFFFF"/>
                  </a:solidFill>
                  <a:latin typeface="微軟正黑體"/>
                  <a:ea typeface="微軟正黑體"/>
                </a:rPr>
                <a:t>商品</a:t>
              </a: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市場</a:t>
              </a:r>
            </a:p>
          </p:txBody>
        </p:sp>
      </p:grpSp>
      <p:sp>
        <p:nvSpPr>
          <p:cNvPr id="12" name="標題 1">
            <a:extLst>
              <a:ext uri="{FF2B5EF4-FFF2-40B4-BE49-F238E27FC236}">
                <a16:creationId xmlns:a16="http://schemas.microsoft.com/office/drawing/2014/main" id="{8931ED6D-854E-4003-B410-B4A24893A671}"/>
              </a:ext>
            </a:extLst>
          </p:cNvPr>
          <p:cNvSpPr txBox="1">
            <a:spLocks/>
          </p:cNvSpPr>
          <p:nvPr/>
        </p:nvSpPr>
        <p:spPr bwMode="auto">
          <a:xfrm>
            <a:off x="720000" y="431998"/>
            <a:ext cx="11208648" cy="819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>
            <a:lvl1pPr algn="l" defTabSz="457200" rtl="0" fontAlgn="base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3D3935"/>
                </a:solidFill>
                <a:latin typeface="+mj-lt"/>
                <a:ea typeface="微軟正黑體" pitchFamily="34" charset="-120"/>
                <a:cs typeface="Arial Unicode MS" pitchFamily="34" charset="-120"/>
              </a:defRPr>
            </a:lvl1pPr>
            <a:lvl2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2pPr>
            <a:lvl3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3pPr>
            <a:lvl4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4pPr>
            <a:lvl5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9pPr>
          </a:lstStyle>
          <a:p>
            <a:pPr lvl="0">
              <a:defRPr/>
            </a:pPr>
            <a:r>
              <a:rPr kumimoji="0" lang="zh-TW" altLang="en-US" dirty="0">
                <a:latin typeface="微軟正黑體"/>
              </a:rPr>
              <a:t>展望油市供給過多及俄烏可能停戰 </a:t>
            </a:r>
            <a:r>
              <a:rPr kumimoji="0" lang="en-US" altLang="zh-TW" dirty="0">
                <a:latin typeface="微軟正黑體"/>
              </a:rPr>
              <a:t> </a:t>
            </a:r>
            <a:r>
              <a:rPr kumimoji="0" lang="zh-TW" altLang="en-US" dirty="0">
                <a:latin typeface="微軟正黑體"/>
              </a:rPr>
              <a:t>油價仍偏下</a:t>
            </a:r>
            <a:endParaRPr kumimoji="0" lang="en-US" altLang="zh-TW" dirty="0">
              <a:latin typeface="微軟正黑體"/>
            </a:endParaRPr>
          </a:p>
          <a:p>
            <a:pPr lvl="0">
              <a:defRPr/>
            </a:pPr>
            <a:r>
              <a:rPr kumimoji="0" lang="zh-TW" altLang="en-US" sz="2000" dirty="0">
                <a:solidFill>
                  <a:srgbClr val="0000FF"/>
                </a:solidFill>
                <a:latin typeface="微軟正黑體"/>
              </a:rPr>
              <a:t>減少制裁是俄羅斯極力爭取的核心議題  該國是全球第三大產油國  產量約每日</a:t>
            </a:r>
            <a:r>
              <a:rPr kumimoji="0" lang="en-US" altLang="zh-TW" sz="2000" dirty="0">
                <a:solidFill>
                  <a:srgbClr val="0000FF"/>
                </a:solidFill>
                <a:latin typeface="微軟正黑體"/>
              </a:rPr>
              <a:t>980</a:t>
            </a:r>
            <a:r>
              <a:rPr kumimoji="0" lang="zh-TW" altLang="en-US" sz="2000" dirty="0">
                <a:solidFill>
                  <a:srgbClr val="0000FF"/>
                </a:solidFill>
                <a:latin typeface="微軟正黑體"/>
              </a:rPr>
              <a:t>萬桶</a:t>
            </a:r>
            <a:endParaRPr kumimoji="0" lang="en-US" altLang="zh-TW" sz="2000" dirty="0">
              <a:solidFill>
                <a:srgbClr val="0000FF"/>
              </a:solidFill>
              <a:latin typeface="微軟正黑體"/>
            </a:endParaRPr>
          </a:p>
          <a:p>
            <a:pPr lvl="0">
              <a:defRPr/>
            </a:pPr>
            <a:endParaRPr kumimoji="0" lang="en-US" altLang="zh-TW" sz="1800" dirty="0">
              <a:latin typeface="微軟正黑體"/>
            </a:endParaRPr>
          </a:p>
          <a:p>
            <a:pPr lvl="0">
              <a:defRPr/>
            </a:pPr>
            <a:endParaRPr kumimoji="0" lang="en-US" altLang="zh-TW" dirty="0">
              <a:latin typeface="微軟正黑體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5A5F2F1-9E23-44F1-B06B-5FE456293AF2}"/>
              </a:ext>
            </a:extLst>
          </p:cNvPr>
          <p:cNvSpPr txBox="1"/>
          <p:nvPr/>
        </p:nvSpPr>
        <p:spPr>
          <a:xfrm>
            <a:off x="8431921" y="6449639"/>
            <a:ext cx="3034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圖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\</a:t>
            </a: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表 資料來源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:Bloomberg</a:t>
            </a:r>
            <a:endParaRPr kumimoji="0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3F98974-DA7C-4BFE-A11E-31F18208CF70}"/>
              </a:ext>
            </a:extLst>
          </p:cNvPr>
          <p:cNvSpPr txBox="1"/>
          <p:nvPr/>
        </p:nvSpPr>
        <p:spPr>
          <a:xfrm>
            <a:off x="7297956" y="292494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西德州油價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E15B4D6-3C17-46CA-B9A3-F1C9827C67C6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" y="1440000"/>
            <a:ext cx="10800000" cy="48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76767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46514F4-79F1-453B-89E5-2840F79BE849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440000"/>
            <a:ext cx="10800000" cy="4860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9052C15-CF51-421A-8F61-0B2E0DFFD447}"/>
              </a:ext>
            </a:extLst>
          </p:cNvPr>
          <p:cNvSpPr txBox="1"/>
          <p:nvPr/>
        </p:nvSpPr>
        <p:spPr>
          <a:xfrm>
            <a:off x="9408368" y="220486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沖繩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6DD23C1-62E7-419E-937A-FA4648113DB2}"/>
              </a:ext>
            </a:extLst>
          </p:cNvPr>
          <p:cNvSpPr txBox="1"/>
          <p:nvPr/>
        </p:nvSpPr>
        <p:spPr>
          <a:xfrm>
            <a:off x="7414468" y="3589164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宮古島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E732124-4B45-46E6-B8FD-60B9A9F23621}"/>
              </a:ext>
            </a:extLst>
          </p:cNvPr>
          <p:cNvSpPr txBox="1"/>
          <p:nvPr/>
        </p:nvSpPr>
        <p:spPr>
          <a:xfrm>
            <a:off x="6195268" y="3893964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石垣島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FBC3AA3-7A5E-4CD2-8FCE-905FB7D4B352}"/>
              </a:ext>
            </a:extLst>
          </p:cNvPr>
          <p:cNvSpPr txBox="1"/>
          <p:nvPr/>
        </p:nvSpPr>
        <p:spPr>
          <a:xfrm>
            <a:off x="4950668" y="398286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與那國島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FF83C88-E4EF-4DBF-9D00-82591C331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613059"/>
              </p:ext>
            </p:extLst>
          </p:nvPr>
        </p:nvGraphicFramePr>
        <p:xfrm>
          <a:off x="4509558" y="4509120"/>
          <a:ext cx="6843026" cy="1881072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799350">
                  <a:extLst>
                    <a:ext uri="{9D8B030D-6E8A-4147-A177-3AD203B41FA5}">
                      <a16:colId xmlns:a16="http://schemas.microsoft.com/office/drawing/2014/main" val="1839227945"/>
                    </a:ext>
                  </a:extLst>
                </a:gridCol>
                <a:gridCol w="1006098">
                  <a:extLst>
                    <a:ext uri="{9D8B030D-6E8A-4147-A177-3AD203B41FA5}">
                      <a16:colId xmlns:a16="http://schemas.microsoft.com/office/drawing/2014/main" val="2688546984"/>
                    </a:ext>
                  </a:extLst>
                </a:gridCol>
                <a:gridCol w="1047917">
                  <a:extLst>
                    <a:ext uri="{9D8B030D-6E8A-4147-A177-3AD203B41FA5}">
                      <a16:colId xmlns:a16="http://schemas.microsoft.com/office/drawing/2014/main" val="3009320391"/>
                    </a:ext>
                  </a:extLst>
                </a:gridCol>
                <a:gridCol w="1691818">
                  <a:extLst>
                    <a:ext uri="{9D8B030D-6E8A-4147-A177-3AD203B41FA5}">
                      <a16:colId xmlns:a16="http://schemas.microsoft.com/office/drawing/2014/main" val="1997511163"/>
                    </a:ext>
                  </a:extLst>
                </a:gridCol>
                <a:gridCol w="2297843">
                  <a:extLst>
                    <a:ext uri="{9D8B030D-6E8A-4147-A177-3AD203B41FA5}">
                      <a16:colId xmlns:a16="http://schemas.microsoft.com/office/drawing/2014/main" val="1415952302"/>
                    </a:ext>
                  </a:extLst>
                </a:gridCol>
              </a:tblGrid>
              <a:tr h="294646"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50" u="none" strike="noStrike" dirty="0">
                          <a:effectLst/>
                        </a:rPr>
                        <a:t>島嶼名稱 </a:t>
                      </a:r>
                      <a:endParaRPr lang="zh-TW" altLang="en-US" sz="1050" b="1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50" u="none" strike="noStrike" dirty="0">
                          <a:effectLst/>
                        </a:rPr>
                        <a:t>地理位置</a:t>
                      </a:r>
                      <a:endParaRPr lang="zh-TW" altLang="en-US" sz="1050" b="1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50" u="none" strike="noStrike" dirty="0">
                          <a:effectLst/>
                        </a:rPr>
                        <a:t>駐軍</a:t>
                      </a:r>
                      <a:r>
                        <a:rPr lang="en-US" altLang="zh-TW" sz="1050" u="none" strike="noStrike" dirty="0">
                          <a:effectLst/>
                        </a:rPr>
                        <a:t>/</a:t>
                      </a:r>
                      <a:r>
                        <a:rPr lang="zh-TW" altLang="en-US" sz="1050" u="none" strike="noStrike" dirty="0">
                          <a:effectLst/>
                        </a:rPr>
                        <a:t>部署狀況</a:t>
                      </a:r>
                      <a:endParaRPr lang="zh-TW" altLang="en-US" sz="1050" b="1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50" u="none" strike="noStrike" dirty="0">
                          <a:effectLst/>
                        </a:rPr>
                        <a:t>主要武力與設施</a:t>
                      </a:r>
                      <a:endParaRPr lang="zh-TW" altLang="en-US" sz="1050" b="1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50" u="none" strike="noStrike" dirty="0">
                          <a:effectLst/>
                        </a:rPr>
                        <a:t>最新進展與備註</a:t>
                      </a:r>
                      <a:endParaRPr lang="zh-TW" altLang="en-US" sz="1050" b="1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3661327"/>
                  </a:ext>
                </a:extLst>
              </a:tr>
              <a:tr h="294646"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50" u="none" strike="noStrike" dirty="0">
                          <a:solidFill>
                            <a:srgbClr val="0000FF"/>
                          </a:solidFill>
                          <a:effectLst/>
                        </a:rPr>
                        <a:t>與那國島</a:t>
                      </a:r>
                      <a:endParaRPr lang="zh-TW" alt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50" u="none" strike="noStrike" dirty="0">
                          <a:solidFill>
                            <a:srgbClr val="0000FF"/>
                          </a:solidFill>
                          <a:effectLst/>
                        </a:rPr>
                        <a:t>日本最西端，距台</a:t>
                      </a:r>
                      <a:r>
                        <a:rPr lang="en-US" altLang="zh-TW" sz="1050" u="none" strike="noStrike" dirty="0">
                          <a:solidFill>
                            <a:srgbClr val="0000FF"/>
                          </a:solidFill>
                          <a:effectLst/>
                        </a:rPr>
                        <a:t>110</a:t>
                      </a:r>
                      <a:r>
                        <a:rPr lang="zh-TW" altLang="en-US" sz="1050" u="none" strike="noStrike" dirty="0">
                          <a:solidFill>
                            <a:srgbClr val="0000FF"/>
                          </a:solidFill>
                          <a:effectLst/>
                        </a:rPr>
                        <a:t>公里</a:t>
                      </a:r>
                      <a:endParaRPr lang="zh-TW" altLang="en-US" sz="105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TW" sz="1050" u="none" strike="noStrike" dirty="0">
                          <a:solidFill>
                            <a:srgbClr val="0000FF"/>
                          </a:solidFill>
                          <a:effectLst/>
                        </a:rPr>
                        <a:t>2016</a:t>
                      </a:r>
                      <a:r>
                        <a:rPr lang="zh-TW" altLang="en-US" sz="1050" u="none" strike="noStrike" dirty="0">
                          <a:solidFill>
                            <a:srgbClr val="0000FF"/>
                          </a:solidFill>
                          <a:effectLst/>
                        </a:rPr>
                        <a:t>年駐軍</a:t>
                      </a:r>
                      <a:endParaRPr lang="zh-TW" altLang="en-US" sz="105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50" u="none" strike="noStrike" dirty="0">
                          <a:solidFill>
                            <a:srgbClr val="0000FF"/>
                          </a:solidFill>
                          <a:effectLst/>
                        </a:rPr>
                        <a:t>沿岸監視部隊</a:t>
                      </a:r>
                      <a:endParaRPr lang="zh-TW" altLang="en-US" sz="105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50" u="none" strike="noStrike" dirty="0">
                          <a:solidFill>
                            <a:srgbClr val="0000FF"/>
                          </a:solidFill>
                          <a:effectLst/>
                        </a:rPr>
                        <a:t>預計</a:t>
                      </a:r>
                      <a:r>
                        <a:rPr lang="en-US" altLang="zh-TW" sz="1050" u="none" strike="noStrike" dirty="0">
                          <a:solidFill>
                            <a:srgbClr val="0000FF"/>
                          </a:solidFill>
                          <a:effectLst/>
                        </a:rPr>
                        <a:t>2026</a:t>
                      </a:r>
                      <a:r>
                        <a:rPr lang="zh-TW" altLang="en-US" sz="1050" u="none" strike="noStrike" dirty="0">
                          <a:solidFill>
                            <a:srgbClr val="0000FF"/>
                          </a:solidFill>
                          <a:effectLst/>
                        </a:rPr>
                        <a:t>年度部署</a:t>
                      </a:r>
                      <a:r>
                        <a:rPr lang="zh-TW" altLang="en-US" sz="1050" b="1" u="none" strike="noStrike" dirty="0">
                          <a:solidFill>
                            <a:srgbClr val="0000FF"/>
                          </a:solidFill>
                          <a:effectLst/>
                        </a:rPr>
                        <a:t>防空電子戰部隊</a:t>
                      </a:r>
                      <a:r>
                        <a:rPr lang="zh-TW" altLang="en-US" sz="1050" u="none" strike="noStrike" dirty="0">
                          <a:solidFill>
                            <a:srgbClr val="0000FF"/>
                          </a:solidFill>
                          <a:effectLst/>
                        </a:rPr>
                        <a:t>，</a:t>
                      </a:r>
                      <a:r>
                        <a:rPr lang="zh-TW" altLang="en-US" sz="1050" b="1" u="none" strike="noStrike" dirty="0">
                          <a:solidFill>
                            <a:srgbClr val="0000FF"/>
                          </a:solidFill>
                          <a:effectLst/>
                        </a:rPr>
                        <a:t>未來潛在部署防空飛彈</a:t>
                      </a:r>
                      <a:r>
                        <a:rPr lang="zh-TW" altLang="en-US" sz="1050" u="none" strike="noStrike" dirty="0">
                          <a:solidFill>
                            <a:srgbClr val="0000FF"/>
                          </a:solidFill>
                          <a:effectLst/>
                        </a:rPr>
                        <a:t>。</a:t>
                      </a:r>
                      <a:endParaRPr lang="zh-TW" altLang="en-US" sz="105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2500108"/>
                  </a:ext>
                </a:extLst>
              </a:tr>
              <a:tr h="437711"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50" u="none" strike="noStrike" dirty="0">
                          <a:effectLst/>
                        </a:rPr>
                        <a:t>石垣島</a:t>
                      </a:r>
                      <a:endParaRPr lang="zh-TW" altLang="en-US" sz="1050" b="1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50" u="none" strike="noStrike" dirty="0">
                          <a:effectLst/>
                        </a:rPr>
                        <a:t>琉球列島八重山群島</a:t>
                      </a:r>
                      <a:endParaRPr lang="zh-TW" altLang="en-US" sz="105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TW" sz="1050" u="none" strike="noStrike" dirty="0">
                          <a:effectLst/>
                        </a:rPr>
                        <a:t>2023</a:t>
                      </a:r>
                      <a:r>
                        <a:rPr lang="zh-TW" altLang="en-US" sz="1050" u="none" strike="noStrike" dirty="0">
                          <a:effectLst/>
                        </a:rPr>
                        <a:t>年</a:t>
                      </a:r>
                      <a:r>
                        <a:rPr lang="en-US" altLang="zh-TW" sz="1050" u="none" strike="noStrike" dirty="0">
                          <a:effectLst/>
                        </a:rPr>
                        <a:t>3</a:t>
                      </a:r>
                      <a:r>
                        <a:rPr lang="zh-TW" altLang="en-US" sz="1050" u="none" strike="noStrike" dirty="0">
                          <a:effectLst/>
                        </a:rPr>
                        <a:t>月新設基地</a:t>
                      </a:r>
                      <a:endParaRPr lang="zh-TW" altLang="en-US" sz="105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TW" sz="1050" u="none" strike="noStrike" dirty="0">
                          <a:effectLst/>
                        </a:rPr>
                        <a:t>12</a:t>
                      </a:r>
                      <a:r>
                        <a:rPr lang="zh-TW" altLang="en-US" sz="1050" u="none" strike="noStrike" dirty="0">
                          <a:effectLst/>
                        </a:rPr>
                        <a:t>式岸艦飛彈 </a:t>
                      </a:r>
                      <a:r>
                        <a:rPr lang="en-US" altLang="zh-TW" sz="1050" u="none" strike="noStrike" dirty="0">
                          <a:effectLst/>
                        </a:rPr>
                        <a:t>(SSM)</a:t>
                      </a:r>
                      <a:r>
                        <a:rPr lang="zh-TW" altLang="en-US" sz="1050" u="none" strike="noStrike" dirty="0">
                          <a:effectLst/>
                        </a:rPr>
                        <a:t>、</a:t>
                      </a:r>
                      <a:r>
                        <a:rPr lang="en-US" altLang="zh-TW" sz="1050" u="none" strike="noStrike" dirty="0">
                          <a:effectLst/>
                        </a:rPr>
                        <a:t>03</a:t>
                      </a:r>
                      <a:r>
                        <a:rPr lang="zh-TW" altLang="en-US" sz="1050" u="none" strike="noStrike" dirty="0">
                          <a:effectLst/>
                        </a:rPr>
                        <a:t>式中程地對空飛彈 </a:t>
                      </a:r>
                      <a:r>
                        <a:rPr lang="en-US" altLang="zh-TW" sz="1050" u="none" strike="noStrike" dirty="0">
                          <a:effectLst/>
                        </a:rPr>
                        <a:t>(Chu-SAM)</a:t>
                      </a:r>
                      <a:endParaRPr lang="en-US" altLang="zh-TW" sz="105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50" u="none" strike="noStrike" dirty="0">
                          <a:effectLst/>
                        </a:rPr>
                        <a:t>新設立的飛彈基地，大幅提升反艦與防空能力。</a:t>
                      </a:r>
                      <a:endParaRPr lang="zh-TW" altLang="en-US" sz="105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750164"/>
                  </a:ext>
                </a:extLst>
              </a:tr>
              <a:tr h="294646"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50" u="none" strike="noStrike">
                          <a:effectLst/>
                        </a:rPr>
                        <a:t>宮古島</a:t>
                      </a:r>
                      <a:endParaRPr lang="zh-TW" altLang="en-US" sz="105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50" u="none" strike="noStrike">
                          <a:effectLst/>
                        </a:rPr>
                        <a:t>琉球列島宮古群島</a:t>
                      </a:r>
                      <a:endParaRPr lang="zh-TW" altLang="en-US" sz="105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TW" sz="1050" u="none" strike="noStrike" dirty="0">
                          <a:effectLst/>
                        </a:rPr>
                        <a:t>2019</a:t>
                      </a:r>
                      <a:r>
                        <a:rPr lang="zh-TW" altLang="en-US" sz="1050" u="none" strike="noStrike" dirty="0">
                          <a:effectLst/>
                        </a:rPr>
                        <a:t>年駐軍</a:t>
                      </a:r>
                      <a:endParaRPr lang="zh-TW" altLang="en-US" sz="105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TW" sz="1050" u="none" strike="noStrike" dirty="0">
                          <a:effectLst/>
                        </a:rPr>
                        <a:t>12</a:t>
                      </a:r>
                      <a:r>
                        <a:rPr lang="zh-TW" altLang="en-US" sz="1050" u="none" strike="noStrike" dirty="0">
                          <a:effectLst/>
                        </a:rPr>
                        <a:t>式岸艦飛彈 </a:t>
                      </a:r>
                      <a:r>
                        <a:rPr lang="en-US" altLang="zh-TW" sz="1050" u="none" strike="noStrike" dirty="0">
                          <a:effectLst/>
                        </a:rPr>
                        <a:t>(SSM)</a:t>
                      </a:r>
                      <a:r>
                        <a:rPr lang="zh-TW" altLang="en-US" sz="1050" u="none" strike="noStrike" dirty="0">
                          <a:effectLst/>
                        </a:rPr>
                        <a:t>、雷達設施</a:t>
                      </a:r>
                      <a:endParaRPr lang="zh-TW" altLang="en-US" sz="105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50" u="none" strike="noStrike" dirty="0">
                          <a:effectLst/>
                        </a:rPr>
                        <a:t>設有第</a:t>
                      </a:r>
                      <a:r>
                        <a:rPr lang="en-US" altLang="zh-TW" sz="1050" u="none" strike="noStrike" dirty="0">
                          <a:effectLst/>
                        </a:rPr>
                        <a:t>302</a:t>
                      </a:r>
                      <a:r>
                        <a:rPr lang="zh-TW" altLang="en-US" sz="1050" u="none" strike="noStrike" dirty="0">
                          <a:effectLst/>
                        </a:rPr>
                        <a:t>岸艦飛彈中隊，是重要的反艦飛彈據點。</a:t>
                      </a:r>
                      <a:endParaRPr lang="zh-TW" altLang="en-US" sz="105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0880403"/>
                  </a:ext>
                </a:extLst>
              </a:tr>
              <a:tr h="437711"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50" u="none" strike="noStrike">
                          <a:effectLst/>
                        </a:rPr>
                        <a:t>沖繩本島</a:t>
                      </a:r>
                      <a:endParaRPr lang="zh-TW" altLang="en-US" sz="105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50" u="none" strike="noStrike">
                          <a:effectLst/>
                        </a:rPr>
                        <a:t>琉球群島核心</a:t>
                      </a:r>
                      <a:endParaRPr lang="zh-TW" altLang="en-US" sz="105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50" u="none" strike="noStrike">
                          <a:effectLst/>
                        </a:rPr>
                        <a:t>長期駐紮</a:t>
                      </a:r>
                      <a:endParaRPr lang="zh-TW" altLang="en-US" sz="105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TW" sz="1050" u="none" strike="noStrike">
                          <a:effectLst/>
                        </a:rPr>
                        <a:t>12</a:t>
                      </a:r>
                      <a:r>
                        <a:rPr lang="zh-TW" altLang="en-US" sz="1050" u="none" strike="noStrike">
                          <a:effectLst/>
                        </a:rPr>
                        <a:t>式岸艦飛彈、愛國者三型飛彈 </a:t>
                      </a:r>
                      <a:r>
                        <a:rPr lang="en-US" altLang="zh-TW" sz="1050" u="none" strike="noStrike">
                          <a:effectLst/>
                        </a:rPr>
                        <a:t>(PAC-3)</a:t>
                      </a:r>
                      <a:r>
                        <a:rPr lang="zh-TW" altLang="en-US" sz="1050" u="none" strike="noStrike">
                          <a:effectLst/>
                        </a:rPr>
                        <a:t>、美軍基地</a:t>
                      </a:r>
                      <a:endParaRPr lang="zh-TW" altLang="en-US" sz="105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50" u="none" strike="noStrike" dirty="0">
                          <a:effectLst/>
                        </a:rPr>
                        <a:t>日本西南地區最重要的戰略核心，</a:t>
                      </a:r>
                      <a:r>
                        <a:rPr lang="en-US" altLang="zh-TW" sz="1050" u="none" strike="noStrike" dirty="0">
                          <a:effectLst/>
                        </a:rPr>
                        <a:t>2024</a:t>
                      </a:r>
                      <a:r>
                        <a:rPr lang="zh-TW" altLang="en-US" sz="1050" u="none" strike="noStrike" dirty="0">
                          <a:effectLst/>
                        </a:rPr>
                        <a:t>年</a:t>
                      </a:r>
                      <a:r>
                        <a:rPr lang="en-US" altLang="zh-TW" sz="1050" u="none" strike="noStrike" dirty="0">
                          <a:effectLst/>
                        </a:rPr>
                        <a:t>3</a:t>
                      </a:r>
                      <a:r>
                        <a:rPr lang="zh-TW" altLang="en-US" sz="1050" u="none" strike="noStrike" dirty="0">
                          <a:effectLst/>
                        </a:rPr>
                        <a:t>月增強</a:t>
                      </a:r>
                      <a:r>
                        <a:rPr lang="en-US" altLang="zh-TW" sz="1050" u="none" strike="noStrike" dirty="0">
                          <a:effectLst/>
                        </a:rPr>
                        <a:t>12</a:t>
                      </a:r>
                      <a:r>
                        <a:rPr lang="zh-TW" altLang="en-US" sz="1050" u="none" strike="noStrike" dirty="0">
                          <a:effectLst/>
                        </a:rPr>
                        <a:t>式飛彈部署。</a:t>
                      </a:r>
                      <a:endParaRPr lang="zh-TW" altLang="en-US" sz="105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9468365"/>
                  </a:ext>
                </a:extLst>
              </a:tr>
            </a:tbl>
          </a:graphicData>
        </a:graphic>
      </p:graphicFrame>
      <p:sp>
        <p:nvSpPr>
          <p:cNvPr id="12" name="Line 140">
            <a:extLst>
              <a:ext uri="{FF2B5EF4-FFF2-40B4-BE49-F238E27FC236}">
                <a16:creationId xmlns:a16="http://schemas.microsoft.com/office/drawing/2014/main" id="{54F4CE45-D574-4F1E-A796-F02704E948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1464" y="237226"/>
            <a:ext cx="6026492" cy="8412"/>
          </a:xfrm>
          <a:prstGeom prst="line">
            <a:avLst/>
          </a:prstGeom>
          <a:noFill/>
          <a:ln w="9525">
            <a:solidFill>
              <a:srgbClr val="BAB184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14320DD1-ED09-483A-916B-14A3BF056842}"/>
              </a:ext>
            </a:extLst>
          </p:cNvPr>
          <p:cNvSpPr txBox="1">
            <a:spLocks/>
          </p:cNvSpPr>
          <p:nvPr/>
        </p:nvSpPr>
        <p:spPr bwMode="auto">
          <a:xfrm>
            <a:off x="720000" y="431998"/>
            <a:ext cx="10800000" cy="819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>
            <a:lvl1pPr algn="l" defTabSz="457200" rtl="0" fontAlgn="base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3D3935"/>
                </a:solidFill>
                <a:latin typeface="+mj-lt"/>
                <a:ea typeface="微軟正黑體" pitchFamily="34" charset="-120"/>
                <a:cs typeface="Arial Unicode MS" pitchFamily="34" charset="-120"/>
              </a:defRPr>
            </a:lvl1pPr>
            <a:lvl2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2pPr>
            <a:lvl3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3pPr>
            <a:lvl4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4pPr>
            <a:lvl5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9pPr>
          </a:lstStyle>
          <a:p>
            <a:pPr>
              <a:defRPr/>
            </a:pPr>
            <a:r>
              <a:rPr kumimoji="0" lang="zh-TW" altLang="en-US" dirty="0">
                <a:latin typeface="微軟正黑體"/>
              </a:rPr>
              <a:t>中日軍事緊張情勢地緣政治風險又升溫  </a:t>
            </a:r>
            <a:endParaRPr kumimoji="0" lang="en-US" altLang="zh-TW" dirty="0">
              <a:latin typeface="微軟正黑體"/>
            </a:endParaRPr>
          </a:p>
          <a:p>
            <a:pPr>
              <a:defRPr/>
            </a:pPr>
            <a:r>
              <a:rPr kumimoji="0" lang="zh-TW" altLang="en-US" sz="1800" dirty="0">
                <a:solidFill>
                  <a:srgbClr val="0000FF"/>
                </a:solidFill>
                <a:latin typeface="微軟正黑體" panose="020B0604030504040204" pitchFamily="34" charset="-120"/>
              </a:rPr>
              <a:t>日本正逐步構建飛彈群島，其中與那國島作為距離台灣僅</a:t>
            </a:r>
            <a:r>
              <a:rPr kumimoji="0" lang="en-US" altLang="zh-TW" sz="1800" dirty="0">
                <a:solidFill>
                  <a:srgbClr val="0000FF"/>
                </a:solidFill>
                <a:latin typeface="微軟正黑體" panose="020B0604030504040204" pitchFamily="34" charset="-120"/>
              </a:rPr>
              <a:t>110</a:t>
            </a:r>
            <a:r>
              <a:rPr kumimoji="0" lang="zh-TW" altLang="en-US" sz="1800" dirty="0">
                <a:solidFill>
                  <a:srgbClr val="0000FF"/>
                </a:solidFill>
                <a:latin typeface="微軟正黑體" panose="020B0604030504040204" pitchFamily="34" charset="-120"/>
              </a:rPr>
              <a:t>公里，已成為這條防線的最前線核心。</a:t>
            </a:r>
            <a:endParaRPr kumimoji="0" lang="en-US" altLang="zh-TW" sz="105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D6F32129-34FE-4E40-A4A6-3A53EDCCFFB9}"/>
              </a:ext>
            </a:extLst>
          </p:cNvPr>
          <p:cNvGrpSpPr/>
          <p:nvPr/>
        </p:nvGrpSpPr>
        <p:grpSpPr>
          <a:xfrm>
            <a:off x="7302082" y="116632"/>
            <a:ext cx="3978494" cy="244175"/>
            <a:chOff x="7302082" y="116632"/>
            <a:chExt cx="3978494" cy="244175"/>
          </a:xfrm>
        </p:grpSpPr>
        <p:sp>
          <p:nvSpPr>
            <p:cNvPr id="15" name="矩形: 圓角 14">
              <a:extLst>
                <a:ext uri="{FF2B5EF4-FFF2-40B4-BE49-F238E27FC236}">
                  <a16:creationId xmlns:a16="http://schemas.microsoft.com/office/drawing/2014/main" id="{C6AF6CC6-4469-47FE-AEA1-2F96C1ED1187}"/>
                </a:ext>
              </a:extLst>
            </p:cNvPr>
            <p:cNvSpPr/>
            <p:nvPr/>
          </p:nvSpPr>
          <p:spPr>
            <a:xfrm>
              <a:off x="7302082" y="116632"/>
              <a:ext cx="993592" cy="242364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總體經濟</a:t>
              </a:r>
            </a:p>
          </p:txBody>
        </p:sp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7FFF9240-787A-46ED-A0DC-8F78C3CF9365}"/>
                </a:ext>
              </a:extLst>
            </p:cNvPr>
            <p:cNvSpPr/>
            <p:nvPr/>
          </p:nvSpPr>
          <p:spPr>
            <a:xfrm>
              <a:off x="8299800" y="116632"/>
              <a:ext cx="993592" cy="24236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股票市場</a:t>
              </a:r>
              <a:endParaRPr kumimoji="1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endParaRPr>
            </a:p>
          </p:txBody>
        </p:sp>
        <p:sp>
          <p:nvSpPr>
            <p:cNvPr id="17" name="矩形: 圓角 16">
              <a:extLst>
                <a:ext uri="{FF2B5EF4-FFF2-40B4-BE49-F238E27FC236}">
                  <a16:creationId xmlns:a16="http://schemas.microsoft.com/office/drawing/2014/main" id="{0F8AB669-4C55-4332-8562-28FBDB0A9791}"/>
                </a:ext>
              </a:extLst>
            </p:cNvPr>
            <p:cNvSpPr/>
            <p:nvPr/>
          </p:nvSpPr>
          <p:spPr>
            <a:xfrm>
              <a:off x="9293392" y="116632"/>
              <a:ext cx="993592" cy="24236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利率</a:t>
              </a:r>
              <a:r>
                <a:rPr kumimoji="1" lang="en-US" altLang="zh-TW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,</a:t>
              </a: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債市</a:t>
              </a:r>
            </a:p>
          </p:txBody>
        </p:sp>
        <p:sp>
          <p:nvSpPr>
            <p:cNvPr id="18" name="矩形: 圓角 17">
              <a:extLst>
                <a:ext uri="{FF2B5EF4-FFF2-40B4-BE49-F238E27FC236}">
                  <a16:creationId xmlns:a16="http://schemas.microsoft.com/office/drawing/2014/main" id="{3246F6D7-C047-4EDB-A154-58E1E6F12502}"/>
                </a:ext>
              </a:extLst>
            </p:cNvPr>
            <p:cNvSpPr/>
            <p:nvPr/>
          </p:nvSpPr>
          <p:spPr>
            <a:xfrm>
              <a:off x="10286984" y="118443"/>
              <a:ext cx="993592" cy="24236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匯率市場</a:t>
              </a:r>
            </a:p>
          </p:txBody>
        </p:sp>
      </p:grpSp>
      <p:pic>
        <p:nvPicPr>
          <p:cNvPr id="19" name="Picture 8" descr="https://upload.wikimedia.org/wikipedia/commons/thumb/7/72/Flag_of_the_Republic_of_China.svg/250px-Flag_of_the_Republic_of_China.svg.png">
            <a:extLst>
              <a:ext uri="{FF2B5EF4-FFF2-40B4-BE49-F238E27FC236}">
                <a16:creationId xmlns:a16="http://schemas.microsoft.com/office/drawing/2014/main" id="{B54768B8-DE53-4461-BF5E-70620FD43BA0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5482" y="74309"/>
            <a:ext cx="6876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日本国旗| Flagpedia.asia">
            <a:extLst>
              <a:ext uri="{FF2B5EF4-FFF2-40B4-BE49-F238E27FC236}">
                <a16:creationId xmlns:a16="http://schemas.microsoft.com/office/drawing/2014/main" id="{0E585C11-80AF-406A-8BB9-05E36045BBF3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5482" y="74309"/>
            <a:ext cx="687600" cy="360000"/>
          </a:xfrm>
          <a:prstGeom prst="rect">
            <a:avLst/>
          </a:prstGeom>
          <a:noFill/>
          <a:ln>
            <a:solidFill>
              <a:srgbClr val="E4E7E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F6F753-B64F-4FBC-A50D-D56CD94B6873}"/>
              </a:ext>
            </a:extLst>
          </p:cNvPr>
          <p:cNvSpPr txBox="1"/>
          <p:nvPr/>
        </p:nvSpPr>
        <p:spPr>
          <a:xfrm>
            <a:off x="8431921" y="6449639"/>
            <a:ext cx="3034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圖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\</a:t>
            </a: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表 資料來源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:Bloomberg</a:t>
            </a:r>
            <a:endParaRPr kumimoji="0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A8615A8-3A3F-4DC8-ACFD-6B9BA27AA7A6}"/>
              </a:ext>
            </a:extLst>
          </p:cNvPr>
          <p:cNvSpPr/>
          <p:nvPr/>
        </p:nvSpPr>
        <p:spPr>
          <a:xfrm rot="20441668">
            <a:off x="4649792" y="2595863"/>
            <a:ext cx="6375770" cy="1534874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0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4014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4EEF0A60-E780-4562-8EE5-1A5456D01361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440000"/>
            <a:ext cx="10800000" cy="486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95F53DF-B01F-49A1-B385-591863735903}"/>
              </a:ext>
            </a:extLst>
          </p:cNvPr>
          <p:cNvPicPr preferRelativeResize="0">
            <a:picLocks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482" y="74309"/>
            <a:ext cx="687600" cy="360000"/>
          </a:xfrm>
          <a:prstGeom prst="rect">
            <a:avLst/>
          </a:prstGeom>
        </p:spPr>
      </p:pic>
      <p:sp>
        <p:nvSpPr>
          <p:cNvPr id="6" name="Line 140">
            <a:extLst>
              <a:ext uri="{FF2B5EF4-FFF2-40B4-BE49-F238E27FC236}">
                <a16:creationId xmlns:a16="http://schemas.microsoft.com/office/drawing/2014/main" id="{5486BFB8-19D3-418F-9AC9-9869E48311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1464" y="237226"/>
            <a:ext cx="6026492" cy="8412"/>
          </a:xfrm>
          <a:prstGeom prst="line">
            <a:avLst/>
          </a:prstGeom>
          <a:noFill/>
          <a:ln w="9525">
            <a:solidFill>
              <a:srgbClr val="BAB184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447472D-323E-4C26-8298-E28223B501BB}"/>
              </a:ext>
            </a:extLst>
          </p:cNvPr>
          <p:cNvGrpSpPr/>
          <p:nvPr/>
        </p:nvGrpSpPr>
        <p:grpSpPr>
          <a:xfrm>
            <a:off x="7302082" y="116632"/>
            <a:ext cx="3978494" cy="244175"/>
            <a:chOff x="7302082" y="116632"/>
            <a:chExt cx="3978494" cy="244175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9570488A-19FA-453F-86A4-6A0BC1392929}"/>
                </a:ext>
              </a:extLst>
            </p:cNvPr>
            <p:cNvSpPr/>
            <p:nvPr/>
          </p:nvSpPr>
          <p:spPr>
            <a:xfrm>
              <a:off x="7302082" y="116632"/>
              <a:ext cx="993592" cy="242364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總體經濟</a:t>
              </a:r>
            </a:p>
          </p:txBody>
        </p: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0199AC4B-5C3F-447D-A9D9-E7165A4AC051}"/>
                </a:ext>
              </a:extLst>
            </p:cNvPr>
            <p:cNvSpPr/>
            <p:nvPr/>
          </p:nvSpPr>
          <p:spPr>
            <a:xfrm>
              <a:off x="8299800" y="116632"/>
              <a:ext cx="993592" cy="24236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股票市場</a:t>
              </a:r>
              <a:endParaRPr kumimoji="1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endParaRPr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4F9763EB-F265-405F-9FCC-DB537F969FF2}"/>
                </a:ext>
              </a:extLst>
            </p:cNvPr>
            <p:cNvSpPr/>
            <p:nvPr/>
          </p:nvSpPr>
          <p:spPr>
            <a:xfrm>
              <a:off x="9293392" y="116632"/>
              <a:ext cx="993592" cy="24236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利率</a:t>
              </a:r>
              <a:r>
                <a:rPr kumimoji="1" lang="en-US" altLang="zh-TW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,</a:t>
              </a: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債市</a:t>
              </a:r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743FD1A8-AC31-491B-9DAA-5C2273935695}"/>
                </a:ext>
              </a:extLst>
            </p:cNvPr>
            <p:cNvSpPr/>
            <p:nvPr/>
          </p:nvSpPr>
          <p:spPr>
            <a:xfrm>
              <a:off x="10286984" y="118443"/>
              <a:ext cx="993592" cy="24236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匯率市場</a:t>
              </a:r>
            </a:p>
          </p:txBody>
        </p:sp>
      </p:grpSp>
      <p:sp>
        <p:nvSpPr>
          <p:cNvPr id="12" name="標題 1">
            <a:extLst>
              <a:ext uri="{FF2B5EF4-FFF2-40B4-BE49-F238E27FC236}">
                <a16:creationId xmlns:a16="http://schemas.microsoft.com/office/drawing/2014/main" id="{8931ED6D-854E-4003-B410-B4A24893A671}"/>
              </a:ext>
            </a:extLst>
          </p:cNvPr>
          <p:cNvSpPr txBox="1">
            <a:spLocks/>
          </p:cNvSpPr>
          <p:nvPr/>
        </p:nvSpPr>
        <p:spPr bwMode="auto">
          <a:xfrm>
            <a:off x="720000" y="431998"/>
            <a:ext cx="11208648" cy="819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>
            <a:lvl1pPr algn="l" defTabSz="457200" rtl="0" fontAlgn="base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3D3935"/>
                </a:solidFill>
                <a:latin typeface="+mj-lt"/>
                <a:ea typeface="微軟正黑體" pitchFamily="34" charset="-120"/>
                <a:cs typeface="Arial Unicode MS" pitchFamily="34" charset="-120"/>
              </a:defRPr>
            </a:lvl1pPr>
            <a:lvl2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2pPr>
            <a:lvl3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3pPr>
            <a:lvl4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4pPr>
            <a:lvl5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9pPr>
          </a:lstStyle>
          <a:p>
            <a:pPr lvl="0">
              <a:defRPr/>
            </a:pPr>
            <a:r>
              <a:rPr kumimoji="0" lang="zh-TW" altLang="en-US" dirty="0">
                <a:latin typeface="微軟正黑體"/>
              </a:rPr>
              <a:t>目前美國景氣就是平緩略偏弱  但還不至於太差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5A5F2F1-9E23-44F1-B06B-5FE456293AF2}"/>
              </a:ext>
            </a:extLst>
          </p:cNvPr>
          <p:cNvSpPr txBox="1"/>
          <p:nvPr/>
        </p:nvSpPr>
        <p:spPr>
          <a:xfrm>
            <a:off x="8431921" y="6449639"/>
            <a:ext cx="3034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圖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\</a:t>
            </a: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表 資料來源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:Bloomberg</a:t>
            </a:r>
            <a:endParaRPr kumimoji="0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B2C1FF2E-C2B2-467D-ABF4-029EFC32F39E}"/>
              </a:ext>
            </a:extLst>
          </p:cNvPr>
          <p:cNvCxnSpPr/>
          <p:nvPr/>
        </p:nvCxnSpPr>
        <p:spPr>
          <a:xfrm flipH="1">
            <a:off x="535850" y="4226353"/>
            <a:ext cx="10587062" cy="0"/>
          </a:xfrm>
          <a:prstGeom prst="line">
            <a:avLst/>
          </a:prstGeom>
          <a:ln w="2857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0FDC535-D41C-4355-B9CE-7318990E19A2}"/>
              </a:ext>
            </a:extLst>
          </p:cNvPr>
          <p:cNvSpPr txBox="1"/>
          <p:nvPr/>
        </p:nvSpPr>
        <p:spPr>
          <a:xfrm>
            <a:off x="5968490" y="2275443"/>
            <a:ext cx="46762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彭博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花旗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高盛編制的美國景氣驚奇指數</a:t>
            </a:r>
          </a:p>
        </p:txBody>
      </p:sp>
    </p:spTree>
    <p:extLst>
      <p:ext uri="{BB962C8B-B14F-4D97-AF65-F5344CB8AC3E}">
        <p14:creationId xmlns:p14="http://schemas.microsoft.com/office/powerpoint/2010/main" val="2478254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40">
            <a:extLst>
              <a:ext uri="{FF2B5EF4-FFF2-40B4-BE49-F238E27FC236}">
                <a16:creationId xmlns:a16="http://schemas.microsoft.com/office/drawing/2014/main" id="{8CC17CF5-3BFE-4C88-B200-4CE4887119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1464" y="237226"/>
            <a:ext cx="6026492" cy="8412"/>
          </a:xfrm>
          <a:prstGeom prst="line">
            <a:avLst/>
          </a:prstGeom>
          <a:noFill/>
          <a:ln w="9525">
            <a:solidFill>
              <a:srgbClr val="BAB184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EFD18CAA-C175-4AF9-AC6B-AFA09E0882AC}"/>
              </a:ext>
            </a:extLst>
          </p:cNvPr>
          <p:cNvGrpSpPr/>
          <p:nvPr/>
        </p:nvGrpSpPr>
        <p:grpSpPr>
          <a:xfrm>
            <a:off x="7302082" y="116632"/>
            <a:ext cx="3978494" cy="244175"/>
            <a:chOff x="7302082" y="116632"/>
            <a:chExt cx="3978494" cy="244175"/>
          </a:xfrm>
        </p:grpSpPr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5868227F-8DD6-4115-ACBD-FE301BEE5190}"/>
                </a:ext>
              </a:extLst>
            </p:cNvPr>
            <p:cNvSpPr/>
            <p:nvPr/>
          </p:nvSpPr>
          <p:spPr>
            <a:xfrm>
              <a:off x="7302082" y="116632"/>
              <a:ext cx="993592" cy="24236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總體經濟</a:t>
              </a:r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C4A9874F-5C31-40F5-9766-2E92FEAF3ABD}"/>
                </a:ext>
              </a:extLst>
            </p:cNvPr>
            <p:cNvSpPr/>
            <p:nvPr/>
          </p:nvSpPr>
          <p:spPr>
            <a:xfrm>
              <a:off x="8299800" y="116632"/>
              <a:ext cx="993592" cy="24236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股票市場</a:t>
              </a:r>
              <a:endParaRPr kumimoji="1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endParaRPr>
            </a:p>
          </p:txBody>
        </p:sp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F4C4A4CD-40E6-4286-A28A-3BDDBBEB5DE0}"/>
                </a:ext>
              </a:extLst>
            </p:cNvPr>
            <p:cNvSpPr/>
            <p:nvPr/>
          </p:nvSpPr>
          <p:spPr>
            <a:xfrm>
              <a:off x="9293392" y="116632"/>
              <a:ext cx="993592" cy="242364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利率</a:t>
              </a:r>
              <a:r>
                <a:rPr kumimoji="1" lang="en-US" altLang="zh-TW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,</a:t>
              </a: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債市</a:t>
              </a:r>
            </a:p>
          </p:txBody>
        </p:sp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CF9AB6C7-DE58-4590-8127-3BEEF17AFAAB}"/>
                </a:ext>
              </a:extLst>
            </p:cNvPr>
            <p:cNvSpPr/>
            <p:nvPr/>
          </p:nvSpPr>
          <p:spPr>
            <a:xfrm>
              <a:off x="10286984" y="118443"/>
              <a:ext cx="993592" cy="24236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商品市場</a:t>
              </a:r>
            </a:p>
          </p:txBody>
        </p:sp>
      </p:grpSp>
      <p:sp>
        <p:nvSpPr>
          <p:cNvPr id="18" name="標題 1">
            <a:extLst>
              <a:ext uri="{FF2B5EF4-FFF2-40B4-BE49-F238E27FC236}">
                <a16:creationId xmlns:a16="http://schemas.microsoft.com/office/drawing/2014/main" id="{8A16F175-899F-4DD1-AAB0-E765EC9733D4}"/>
              </a:ext>
            </a:extLst>
          </p:cNvPr>
          <p:cNvSpPr txBox="1">
            <a:spLocks/>
          </p:cNvSpPr>
          <p:nvPr/>
        </p:nvSpPr>
        <p:spPr bwMode="auto">
          <a:xfrm>
            <a:off x="719999" y="431999"/>
            <a:ext cx="10799999" cy="892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>
            <a:lvl1pPr algn="l" defTabSz="457200" rtl="0" fontAlgn="base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3D3935"/>
                </a:solidFill>
                <a:latin typeface="+mj-lt"/>
                <a:ea typeface="微軟正黑體" pitchFamily="34" charset="-120"/>
                <a:cs typeface="Arial Unicode MS" pitchFamily="34" charset="-120"/>
              </a:defRPr>
            </a:lvl1pPr>
            <a:lvl2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2pPr>
            <a:lvl3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3pPr>
            <a:lvl4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4pPr>
            <a:lvl5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9pPr>
          </a:lstStyle>
          <a:p>
            <a:pPr lvl="0">
              <a:defRPr/>
            </a:pPr>
            <a:r>
              <a:rPr kumimoji="0" lang="en-US" altLang="zh-TW" dirty="0">
                <a:latin typeface="微軟正黑體"/>
              </a:rPr>
              <a:t>BOJ</a:t>
            </a:r>
            <a:r>
              <a:rPr kumimoji="0" lang="zh-TW" altLang="en-US" dirty="0">
                <a:latin typeface="微軟正黑體"/>
              </a:rPr>
              <a:t>上週升息一碼至</a:t>
            </a:r>
            <a:r>
              <a:rPr kumimoji="0" lang="en-US" altLang="zh-TW" dirty="0">
                <a:latin typeface="微軟正黑體"/>
              </a:rPr>
              <a:t>0.75%</a:t>
            </a:r>
            <a:r>
              <a:rPr kumimoji="0" lang="zh-TW" altLang="en-US" dirty="0">
                <a:latin typeface="微軟正黑體"/>
              </a:rPr>
              <a:t> 並表示實質利率仍偏低 </a:t>
            </a:r>
            <a:endParaRPr kumimoji="0" lang="en-US" altLang="zh-TW" dirty="0">
              <a:latin typeface="微軟正黑體"/>
            </a:endParaRPr>
          </a:p>
          <a:p>
            <a:pPr lvl="0">
              <a:defRPr/>
            </a:pPr>
            <a:r>
              <a:rPr kumimoji="0" lang="zh-TW" altLang="en-US" sz="2000" dirty="0">
                <a:solidFill>
                  <a:srgbClr val="0000FF"/>
                </a:solidFill>
                <a:latin typeface="微軟正黑體"/>
              </a:rPr>
              <a:t>升息節奏將取決於數據表現 </a:t>
            </a:r>
            <a:r>
              <a:rPr kumimoji="0" lang="en-US" altLang="zh-TW" sz="2000" dirty="0">
                <a:solidFill>
                  <a:srgbClr val="0000FF"/>
                </a:solidFill>
                <a:latin typeface="微軟正黑體"/>
              </a:rPr>
              <a:t>(Data-dependent)</a:t>
            </a:r>
            <a:endParaRPr kumimoji="0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953B3F4-D60F-4832-9539-9B5AE5F7DD6C}"/>
              </a:ext>
            </a:extLst>
          </p:cNvPr>
          <p:cNvSpPr txBox="1"/>
          <p:nvPr/>
        </p:nvSpPr>
        <p:spPr>
          <a:xfrm>
            <a:off x="8431921" y="6449639"/>
            <a:ext cx="3034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圖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\</a:t>
            </a: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表 資料來源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:Bloomberg</a:t>
            </a:r>
            <a:endParaRPr kumimoji="0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0B177C-C88E-4AA2-BA62-B7AE859D8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00" y="1439994"/>
            <a:ext cx="10800000" cy="4776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92046" rIns="0" bIns="122199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日本央行</a:t>
            </a: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BOJ</a:t>
            </a: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r>
              <a:rPr kumimoji="0" lang="en-US" altLang="zh-TW" sz="200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12/19</a:t>
            </a:r>
            <a:r>
              <a:rPr kumimoji="0" lang="zh-TW" altLang="zh-TW" sz="200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將基準利率上調至 0.75% 後，行長植田和男的發言重點強調了對未來通膨前景的信心，並暗示將繼續逐步升息以實現貨幣政策正常化。</a:t>
            </a:r>
            <a:r>
              <a:rPr kumimoji="0" lang="zh-TW" altLang="en-US" sz="2000" dirty="0">
                <a:solidFill>
                  <a:srgbClr val="0A0A0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主要聲明與談話摘要如下</a:t>
            </a:r>
            <a:r>
              <a:rPr kumimoji="0" lang="en-US" altLang="zh-TW" sz="2000" dirty="0">
                <a:solidFill>
                  <a:srgbClr val="0A0A0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:</a:t>
            </a:r>
            <a:endParaRPr kumimoji="0" lang="zh-TW" altLang="zh-TW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kumimoji="0" lang="zh-TW" altLang="zh-TW" sz="2000" b="1" i="0" u="sng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通膨目標接近達成：</a:t>
            </a:r>
            <a:r>
              <a:rPr kumimoji="0" lang="zh-TW" altLang="zh-TW" sz="200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植田和男表示從最近的數據和調查來看，通膨與薪資同步溫和上漲的機制很有可能持續下去，這使央行更接近實現 2% 的可持續通膨目標。</a:t>
            </a:r>
            <a:r>
              <a:rPr kumimoji="0" lang="en-US" altLang="zh-TW" sz="20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2026</a:t>
            </a:r>
            <a:r>
              <a:rPr kumimoji="0" lang="zh-TW" altLang="zh-TW" sz="20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年春季的年度勞資談判</a:t>
            </a:r>
            <a:r>
              <a:rPr kumimoji="0" lang="en-US" altLang="zh-TW" sz="20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kumimoji="0" lang="zh-TW" altLang="zh-TW" sz="20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春鬥</a:t>
            </a:r>
            <a:r>
              <a:rPr kumimoji="0" lang="en-US" altLang="zh-TW" sz="20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r>
              <a:rPr kumimoji="0" lang="zh-TW" altLang="zh-TW" sz="20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結果將是影響下一步決策的重要依據，央行正積極收集企業加薪資訊。</a:t>
            </a:r>
            <a:endParaRPr kumimoji="0" lang="zh-TW" altLang="zh-TW" sz="200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zh-TW" altLang="zh-TW" sz="2000" b="1" i="0" u="sng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持續調整貨幣寬鬆程度：</a:t>
            </a:r>
            <a:r>
              <a:rPr kumimoji="0" lang="zh-TW" altLang="zh-TW" sz="200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他指出即使在升息之後，</a:t>
            </a:r>
            <a:r>
              <a:rPr kumimoji="0" lang="zh-TW" altLang="zh-TW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日本的實質利率</a:t>
            </a:r>
            <a:r>
              <a:rPr kumimoji="0" lang="en-US" altLang="zh-TW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kumimoji="0" lang="zh-TW" altLang="zh-TW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扣除通膨後的利率</a:t>
            </a:r>
            <a:r>
              <a:rPr kumimoji="0" lang="en-US" altLang="zh-TW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r>
              <a:rPr kumimoji="0" lang="zh-TW" altLang="zh-TW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仍處於「顯著的低水平」</a:t>
            </a:r>
            <a:r>
              <a:rPr kumimoji="0" lang="zh-TW" altLang="zh-TW" sz="200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。這意味著貨幣政策環境仍然寬鬆，未來將根據經濟和物價預測的實現情況，繼續逐步提高政策利率，</a:t>
            </a:r>
            <a:r>
              <a:rPr kumimoji="0" lang="zh-TW" altLang="en-US" sz="200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他也</a:t>
            </a:r>
            <a:r>
              <a:rPr kumimoji="0" lang="zh-TW" altLang="zh-TW" sz="200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強調未來的緊縮步伐將是漸進的且依賴於數據，而非一條預設的激進升息路徑。</a:t>
            </a:r>
            <a:endParaRPr kumimoji="0" lang="en-US" altLang="zh-TW" sz="200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kumimoji="0" lang="zh-TW" altLang="en-US" sz="2000" b="1" dirty="0">
                <a:solidFill>
                  <a:srgbClr val="0000FF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判斷若</a:t>
            </a:r>
            <a:r>
              <a:rPr kumimoji="0" lang="en-US" altLang="zh-TW" sz="2000" b="1" dirty="0">
                <a:solidFill>
                  <a:srgbClr val="0000FF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BOJ</a:t>
            </a:r>
            <a:r>
              <a:rPr kumimoji="0" lang="zh-TW" altLang="en-US" sz="2000" b="1" dirty="0">
                <a:solidFill>
                  <a:srgbClr val="0000FF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後續一年升息兩碼</a:t>
            </a:r>
            <a:r>
              <a:rPr kumimoji="0" lang="en-US" altLang="zh-TW" sz="2000" b="1" dirty="0">
                <a:solidFill>
                  <a:srgbClr val="0000FF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kumimoji="0" lang="zh-TW" altLang="en-US" sz="2000" b="1" dirty="0">
                <a:solidFill>
                  <a:srgbClr val="0000FF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含</a:t>
            </a:r>
            <a:r>
              <a:rPr kumimoji="0" lang="en-US" altLang="zh-TW" sz="2000" b="1" dirty="0">
                <a:solidFill>
                  <a:srgbClr val="0000FF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r>
              <a:rPr kumimoji="0" lang="zh-TW" altLang="en-US" sz="2000" b="1" dirty="0">
                <a:solidFill>
                  <a:srgbClr val="0000FF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以上，可能會對於日圓升值或全球金融市場有較大的衝擊</a:t>
            </a:r>
            <a:r>
              <a:rPr kumimoji="0" lang="zh-TW" altLang="zh-TW" sz="2000" b="1" dirty="0">
                <a:solidFill>
                  <a:srgbClr val="0000FF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  <a:endParaRPr kumimoji="0" lang="zh-TW" altLang="zh-TW" sz="20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highlight>
                <a:srgbClr val="FFFF00"/>
              </a:highlight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15" name="Picture 2" descr="日本国旗| Flagpedia.asia">
            <a:extLst>
              <a:ext uri="{FF2B5EF4-FFF2-40B4-BE49-F238E27FC236}">
                <a16:creationId xmlns:a16="http://schemas.microsoft.com/office/drawing/2014/main" id="{E02AF56D-2F05-4913-86D3-852584B38F7B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5482" y="74309"/>
            <a:ext cx="687600" cy="360000"/>
          </a:xfrm>
          <a:prstGeom prst="rect">
            <a:avLst/>
          </a:prstGeom>
          <a:noFill/>
          <a:ln>
            <a:solidFill>
              <a:srgbClr val="E4E7E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5877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140">
            <a:extLst>
              <a:ext uri="{FF2B5EF4-FFF2-40B4-BE49-F238E27FC236}">
                <a16:creationId xmlns:a16="http://schemas.microsoft.com/office/drawing/2014/main" id="{5486BFB8-19D3-418F-9AC9-9869E48311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1464" y="237226"/>
            <a:ext cx="6026492" cy="8412"/>
          </a:xfrm>
          <a:prstGeom prst="line">
            <a:avLst/>
          </a:prstGeom>
          <a:noFill/>
          <a:ln w="9525">
            <a:solidFill>
              <a:srgbClr val="BAB184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447472D-323E-4C26-8298-E28223B501BB}"/>
              </a:ext>
            </a:extLst>
          </p:cNvPr>
          <p:cNvGrpSpPr/>
          <p:nvPr/>
        </p:nvGrpSpPr>
        <p:grpSpPr>
          <a:xfrm>
            <a:off x="7302082" y="116632"/>
            <a:ext cx="3978494" cy="244175"/>
            <a:chOff x="7302082" y="116632"/>
            <a:chExt cx="3978494" cy="244175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9570488A-19FA-453F-86A4-6A0BC1392929}"/>
                </a:ext>
              </a:extLst>
            </p:cNvPr>
            <p:cNvSpPr/>
            <p:nvPr/>
          </p:nvSpPr>
          <p:spPr>
            <a:xfrm>
              <a:off x="7302082" y="116632"/>
              <a:ext cx="993592" cy="242364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總體經濟</a:t>
              </a:r>
            </a:p>
          </p:txBody>
        </p: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0199AC4B-5C3F-447D-A9D9-E7165A4AC051}"/>
                </a:ext>
              </a:extLst>
            </p:cNvPr>
            <p:cNvSpPr/>
            <p:nvPr/>
          </p:nvSpPr>
          <p:spPr>
            <a:xfrm>
              <a:off x="8299800" y="116632"/>
              <a:ext cx="993592" cy="24236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股票市場</a:t>
              </a:r>
              <a:endParaRPr kumimoji="1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endParaRPr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4F9763EB-F265-405F-9FCC-DB537F969FF2}"/>
                </a:ext>
              </a:extLst>
            </p:cNvPr>
            <p:cNvSpPr/>
            <p:nvPr/>
          </p:nvSpPr>
          <p:spPr>
            <a:xfrm>
              <a:off x="9293392" y="116632"/>
              <a:ext cx="993592" cy="242364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利率</a:t>
              </a:r>
              <a:r>
                <a:rPr kumimoji="1" lang="en-US" altLang="zh-TW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,</a:t>
              </a: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債市</a:t>
              </a:r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743FD1A8-AC31-491B-9DAA-5C2273935695}"/>
                </a:ext>
              </a:extLst>
            </p:cNvPr>
            <p:cNvSpPr/>
            <p:nvPr/>
          </p:nvSpPr>
          <p:spPr>
            <a:xfrm>
              <a:off x="10286984" y="118443"/>
              <a:ext cx="993592" cy="24236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匯率市場</a:t>
              </a:r>
            </a:p>
          </p:txBody>
        </p:sp>
      </p:grpSp>
      <p:sp>
        <p:nvSpPr>
          <p:cNvPr id="12" name="標題 1">
            <a:extLst>
              <a:ext uri="{FF2B5EF4-FFF2-40B4-BE49-F238E27FC236}">
                <a16:creationId xmlns:a16="http://schemas.microsoft.com/office/drawing/2014/main" id="{8931ED6D-854E-4003-B410-B4A24893A671}"/>
              </a:ext>
            </a:extLst>
          </p:cNvPr>
          <p:cNvSpPr txBox="1">
            <a:spLocks/>
          </p:cNvSpPr>
          <p:nvPr/>
        </p:nvSpPr>
        <p:spPr bwMode="auto">
          <a:xfrm>
            <a:off x="720000" y="431998"/>
            <a:ext cx="11208648" cy="819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>
            <a:lvl1pPr algn="l" defTabSz="457200" rtl="0" fontAlgn="base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3D3935"/>
                </a:solidFill>
                <a:latin typeface="+mj-lt"/>
                <a:ea typeface="微軟正黑體" pitchFamily="34" charset="-120"/>
                <a:cs typeface="Arial Unicode MS" pitchFamily="34" charset="-120"/>
              </a:defRPr>
            </a:lvl1pPr>
            <a:lvl2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2pPr>
            <a:lvl3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3pPr>
            <a:lvl4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4pPr>
            <a:lvl5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9pPr>
          </a:lstStyle>
          <a:p>
            <a:pPr lvl="0">
              <a:defRPr/>
            </a:pPr>
            <a:r>
              <a:rPr kumimoji="0" lang="zh-TW" altLang="en-US" dirty="0">
                <a:latin typeface="微軟正黑體"/>
              </a:rPr>
              <a:t>長期日本春鬥工資升幅與通膨趨勢同方向</a:t>
            </a:r>
            <a:endParaRPr kumimoji="0" lang="en-US" altLang="zh-TW" dirty="0">
              <a:latin typeface="微軟正黑體"/>
            </a:endParaRPr>
          </a:p>
          <a:p>
            <a:pPr lvl="0">
              <a:defRPr/>
            </a:pPr>
            <a:r>
              <a:rPr kumimoji="0" lang="zh-TW" altLang="en-US" sz="1800" dirty="0">
                <a:latin typeface="微軟正黑體"/>
              </a:rPr>
              <a:t>近幾年日本工會要求加薪的幅度提高 提高日本通膨的可持續性  </a:t>
            </a:r>
            <a:r>
              <a:rPr kumimoji="0" lang="zh-TW" altLang="en-US" sz="1800" dirty="0">
                <a:solidFill>
                  <a:srgbClr val="0000FF"/>
                </a:solidFill>
                <a:latin typeface="微軟正黑體"/>
              </a:rPr>
              <a:t>兩者呈現互相回饋強化的效果</a:t>
            </a:r>
            <a:endParaRPr kumimoji="0" lang="en-US" altLang="zh-TW" sz="1800" dirty="0">
              <a:solidFill>
                <a:srgbClr val="0000FF"/>
              </a:solidFill>
              <a:latin typeface="微軟正黑體"/>
            </a:endParaRPr>
          </a:p>
          <a:p>
            <a:pPr lvl="0">
              <a:defRPr/>
            </a:pPr>
            <a:r>
              <a:rPr kumimoji="0" lang="zh-TW" altLang="en-US" sz="1800" dirty="0">
                <a:latin typeface="微軟正黑體"/>
              </a:rPr>
              <a:t>也就是當日本通膨偏高時 勞方會要求加薪</a:t>
            </a:r>
            <a:r>
              <a:rPr kumimoji="0" lang="en-US" altLang="zh-TW" sz="1800" dirty="0">
                <a:latin typeface="微軟正黑體"/>
              </a:rPr>
              <a:t>(</a:t>
            </a:r>
            <a:r>
              <a:rPr kumimoji="0" lang="zh-TW" altLang="en-US" sz="1800" dirty="0">
                <a:latin typeface="微軟正黑體"/>
              </a:rPr>
              <a:t>維持實質購買力</a:t>
            </a:r>
            <a:r>
              <a:rPr kumimoji="0" lang="en-US" altLang="zh-TW" sz="1800" dirty="0">
                <a:latin typeface="微軟正黑體"/>
              </a:rPr>
              <a:t>)</a:t>
            </a:r>
            <a:r>
              <a:rPr kumimoji="0" lang="zh-TW" altLang="en-US" sz="1800" dirty="0">
                <a:latin typeface="微軟正黑體"/>
              </a:rPr>
              <a:t> 加薪之後廠商店家會進行漲價再造成通膨又升高</a:t>
            </a:r>
            <a:endParaRPr kumimoji="0" lang="en-US" altLang="zh-TW" sz="1800" dirty="0">
              <a:latin typeface="微軟正黑體"/>
            </a:endParaRPr>
          </a:p>
          <a:p>
            <a:pPr lvl="0">
              <a:defRPr/>
            </a:pPr>
            <a:endParaRPr kumimoji="0" lang="en-US" altLang="zh-TW" sz="2000" dirty="0">
              <a:latin typeface="微軟正黑體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5A5F2F1-9E23-44F1-B06B-5FE456293AF2}"/>
              </a:ext>
            </a:extLst>
          </p:cNvPr>
          <p:cNvSpPr txBox="1"/>
          <p:nvPr/>
        </p:nvSpPr>
        <p:spPr>
          <a:xfrm>
            <a:off x="8431921" y="6449639"/>
            <a:ext cx="3034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圖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\</a:t>
            </a: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表 資料來源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:Bloomberg</a:t>
            </a:r>
            <a:endParaRPr kumimoji="0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7A5F4B37-3EF3-4756-BD08-6147FFBECF7C}"/>
              </a:ext>
            </a:extLst>
          </p:cNvPr>
          <p:cNvGrpSpPr/>
          <p:nvPr/>
        </p:nvGrpSpPr>
        <p:grpSpPr>
          <a:xfrm>
            <a:off x="540000" y="1620000"/>
            <a:ext cx="7200000" cy="4680000"/>
            <a:chOff x="540000" y="1620000"/>
            <a:chExt cx="5400000" cy="4680000"/>
          </a:xfrm>
        </p:grpSpPr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62D62014-7CC2-415C-B9B8-5AF37285CFD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0000" y="1620000"/>
              <a:ext cx="5400000" cy="4680000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DFCF8351-147B-4D9B-BB1B-C90A94FE8BDE}"/>
                </a:ext>
              </a:extLst>
            </p:cNvPr>
            <p:cNvSpPr/>
            <p:nvPr/>
          </p:nvSpPr>
          <p:spPr>
            <a:xfrm>
              <a:off x="623392" y="2636911"/>
              <a:ext cx="4932000" cy="1908000"/>
            </a:xfrm>
            <a:custGeom>
              <a:avLst/>
              <a:gdLst>
                <a:gd name="connsiteX0" fmla="*/ 0 w 4902200"/>
                <a:gd name="connsiteY0" fmla="*/ 0 h 1638813"/>
                <a:gd name="connsiteX1" fmla="*/ 2032000 w 4902200"/>
                <a:gd name="connsiteY1" fmla="*/ 1625600 h 1638813"/>
                <a:gd name="connsiteX2" fmla="*/ 4902200 w 4902200"/>
                <a:gd name="connsiteY2" fmla="*/ 635000 h 1638813"/>
                <a:gd name="connsiteX0" fmla="*/ 0 w 5067300"/>
                <a:gd name="connsiteY0" fmla="*/ 114300 h 1740202"/>
                <a:gd name="connsiteX1" fmla="*/ 2032000 w 5067300"/>
                <a:gd name="connsiteY1" fmla="*/ 1739900 h 1740202"/>
                <a:gd name="connsiteX2" fmla="*/ 5067300 w 5067300"/>
                <a:gd name="connsiteY2" fmla="*/ 0 h 1740202"/>
                <a:gd name="connsiteX0" fmla="*/ 0 w 5067300"/>
                <a:gd name="connsiteY0" fmla="*/ 114300 h 1740202"/>
                <a:gd name="connsiteX1" fmla="*/ 2032000 w 5067300"/>
                <a:gd name="connsiteY1" fmla="*/ 1739900 h 1740202"/>
                <a:gd name="connsiteX2" fmla="*/ 5067300 w 5067300"/>
                <a:gd name="connsiteY2" fmla="*/ 0 h 1740202"/>
                <a:gd name="connsiteX0" fmla="*/ 0 w 5067300"/>
                <a:gd name="connsiteY0" fmla="*/ 114300 h 1714811"/>
                <a:gd name="connsiteX1" fmla="*/ 2324100 w 5067300"/>
                <a:gd name="connsiteY1" fmla="*/ 1714500 h 1714811"/>
                <a:gd name="connsiteX2" fmla="*/ 5067300 w 5067300"/>
                <a:gd name="connsiteY2" fmla="*/ 0 h 1714811"/>
                <a:gd name="connsiteX0" fmla="*/ 0 w 5067300"/>
                <a:gd name="connsiteY0" fmla="*/ 114300 h 1740202"/>
                <a:gd name="connsiteX1" fmla="*/ 2489200 w 5067300"/>
                <a:gd name="connsiteY1" fmla="*/ 1739900 h 1740202"/>
                <a:gd name="connsiteX2" fmla="*/ 5067300 w 5067300"/>
                <a:gd name="connsiteY2" fmla="*/ 0 h 1740202"/>
                <a:gd name="connsiteX0" fmla="*/ 0 w 5067300"/>
                <a:gd name="connsiteY0" fmla="*/ 114300 h 1706180"/>
                <a:gd name="connsiteX1" fmla="*/ 2298930 w 5067300"/>
                <a:gd name="connsiteY1" fmla="*/ 1705866 h 1706180"/>
                <a:gd name="connsiteX2" fmla="*/ 5067300 w 5067300"/>
                <a:gd name="connsiteY2" fmla="*/ 0 h 1706180"/>
                <a:gd name="connsiteX0" fmla="*/ 0 w 5067300"/>
                <a:gd name="connsiteY0" fmla="*/ 114300 h 1661616"/>
                <a:gd name="connsiteX1" fmla="*/ 2501886 w 5067300"/>
                <a:gd name="connsiteY1" fmla="*/ 1661285 h 1661616"/>
                <a:gd name="connsiteX2" fmla="*/ 5067300 w 5067300"/>
                <a:gd name="connsiteY2" fmla="*/ 0 h 1661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67300" h="1661616">
                  <a:moveTo>
                    <a:pt x="0" y="114300"/>
                  </a:moveTo>
                  <a:cubicBezTo>
                    <a:pt x="607483" y="874183"/>
                    <a:pt x="1657336" y="1680335"/>
                    <a:pt x="2501886" y="1661285"/>
                  </a:cubicBezTo>
                  <a:cubicBezTo>
                    <a:pt x="3346436" y="1642235"/>
                    <a:pt x="4612216" y="1056216"/>
                    <a:pt x="5067300" y="0"/>
                  </a:cubicBezTo>
                </a:path>
              </a:pathLst>
            </a:custGeom>
            <a:noFill/>
            <a:ln w="107950">
              <a:solidFill>
                <a:srgbClr val="FF0000">
                  <a:alpha val="20000"/>
                </a:srgbClr>
              </a:solidFill>
              <a:prstDash val="solid"/>
              <a:tailEnd type="arrow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FFAA6229-187B-44B9-A39F-82847FC34568}"/>
                </a:ext>
              </a:extLst>
            </p:cNvPr>
            <p:cNvSpPr txBox="1"/>
            <p:nvPr/>
          </p:nvSpPr>
          <p:spPr>
            <a:xfrm>
              <a:off x="1965603" y="3215878"/>
              <a:ext cx="1826141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每年日本春鬥勞資</a:t>
              </a:r>
              <a:endPara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l"/>
              <a:r>
                <a:rPr lang="zh-TW" altLang="en-US" sz="16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協商調薪幅度</a:t>
              </a:r>
              <a:endPara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l"/>
              <a:endPara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l"/>
              <a:r>
                <a:rPr lang="zh-TW" altLang="en-US" sz="1600" b="1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日本核心通膨年率</a:t>
              </a:r>
            </a:p>
          </p:txBody>
        </p:sp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0A1E90DF-0DCA-4245-8D08-17EF1554C896}"/>
              </a:ext>
            </a:extLst>
          </p:cNvPr>
          <p:cNvGrpSpPr/>
          <p:nvPr/>
        </p:nvGrpSpPr>
        <p:grpSpPr>
          <a:xfrm>
            <a:off x="7740000" y="1620000"/>
            <a:ext cx="3600000" cy="4680000"/>
            <a:chOff x="5940000" y="1620000"/>
            <a:chExt cx="5400000" cy="4680000"/>
          </a:xfrm>
        </p:grpSpPr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1C2FF585-0180-459F-8372-09B3654EB7E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0000" y="1620000"/>
              <a:ext cx="5400000" cy="4680000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D544B901-9D90-414B-BE0A-D90DB09AFE50}"/>
                </a:ext>
              </a:extLst>
            </p:cNvPr>
            <p:cNvSpPr txBox="1"/>
            <p:nvPr/>
          </p:nvSpPr>
          <p:spPr>
            <a:xfrm>
              <a:off x="6900315" y="3331138"/>
              <a:ext cx="3854876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TW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OIS</a:t>
              </a:r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反應</a:t>
              </a:r>
              <a:r>
                <a:rPr lang="en-US" altLang="zh-TW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2026</a:t>
              </a:r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年底</a:t>
              </a:r>
              <a:endPara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l"/>
              <a:r>
                <a:rPr lang="zh-TW" alt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日本基準利率水準</a:t>
              </a:r>
              <a:endPara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l"/>
              <a:endPara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l"/>
              <a:endPara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l"/>
              <a:endPara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l"/>
              <a:endPara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l"/>
              <a:endPara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r"/>
              <a:endPara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r"/>
              <a:r>
                <a:rPr lang="zh-TW" altLang="en-US" sz="1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機構經濟學家平均預估</a:t>
              </a:r>
              <a:endParaRPr lang="en-US" altLang="zh-TW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r"/>
              <a:r>
                <a:rPr lang="en-US" altLang="zh-TW" sz="1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2026</a:t>
              </a:r>
              <a:r>
                <a:rPr lang="zh-TW" altLang="en-US" sz="1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年底日本基準利率</a:t>
              </a:r>
            </a:p>
          </p:txBody>
        </p:sp>
      </p:grpSp>
      <p:pic>
        <p:nvPicPr>
          <p:cNvPr id="16" name="Picture 2" descr="日本国旗| Flagpedia.asia">
            <a:extLst>
              <a:ext uri="{FF2B5EF4-FFF2-40B4-BE49-F238E27FC236}">
                <a16:creationId xmlns:a16="http://schemas.microsoft.com/office/drawing/2014/main" id="{462D0276-A1EE-4E6D-855C-F3B2637761E9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5482" y="74309"/>
            <a:ext cx="687600" cy="360000"/>
          </a:xfrm>
          <a:prstGeom prst="rect">
            <a:avLst/>
          </a:prstGeom>
          <a:noFill/>
          <a:ln>
            <a:solidFill>
              <a:srgbClr val="E4E7E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344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46514F4-79F1-453B-89E5-2840F79BE849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440000"/>
            <a:ext cx="10800000" cy="4860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9052C15-CF51-421A-8F61-0B2E0DFFD447}"/>
              </a:ext>
            </a:extLst>
          </p:cNvPr>
          <p:cNvSpPr txBox="1"/>
          <p:nvPr/>
        </p:nvSpPr>
        <p:spPr>
          <a:xfrm>
            <a:off x="9408368" y="220486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沖繩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6DD23C1-62E7-419E-937A-FA4648113DB2}"/>
              </a:ext>
            </a:extLst>
          </p:cNvPr>
          <p:cNvSpPr txBox="1"/>
          <p:nvPr/>
        </p:nvSpPr>
        <p:spPr>
          <a:xfrm>
            <a:off x="7414468" y="3589164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宮古島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E732124-4B45-46E6-B8FD-60B9A9F23621}"/>
              </a:ext>
            </a:extLst>
          </p:cNvPr>
          <p:cNvSpPr txBox="1"/>
          <p:nvPr/>
        </p:nvSpPr>
        <p:spPr>
          <a:xfrm>
            <a:off x="6195268" y="3893964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石垣島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FBC3AA3-7A5E-4CD2-8FCE-905FB7D4B352}"/>
              </a:ext>
            </a:extLst>
          </p:cNvPr>
          <p:cNvSpPr txBox="1"/>
          <p:nvPr/>
        </p:nvSpPr>
        <p:spPr>
          <a:xfrm>
            <a:off x="4950668" y="398286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與那國島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FF83C88-E4EF-4DBF-9D00-82591C331698}"/>
              </a:ext>
            </a:extLst>
          </p:cNvPr>
          <p:cNvGraphicFramePr>
            <a:graphicFrameLocks noGrp="1"/>
          </p:cNvGraphicFramePr>
          <p:nvPr/>
        </p:nvGraphicFramePr>
        <p:xfrm>
          <a:off x="4826000" y="4622801"/>
          <a:ext cx="6438900" cy="1584126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752143">
                  <a:extLst>
                    <a:ext uri="{9D8B030D-6E8A-4147-A177-3AD203B41FA5}">
                      <a16:colId xmlns:a16="http://schemas.microsoft.com/office/drawing/2014/main" val="1839227945"/>
                    </a:ext>
                  </a:extLst>
                </a:gridCol>
                <a:gridCol w="946681">
                  <a:extLst>
                    <a:ext uri="{9D8B030D-6E8A-4147-A177-3AD203B41FA5}">
                      <a16:colId xmlns:a16="http://schemas.microsoft.com/office/drawing/2014/main" val="2688546984"/>
                    </a:ext>
                  </a:extLst>
                </a:gridCol>
                <a:gridCol w="986031">
                  <a:extLst>
                    <a:ext uri="{9D8B030D-6E8A-4147-A177-3AD203B41FA5}">
                      <a16:colId xmlns:a16="http://schemas.microsoft.com/office/drawing/2014/main" val="3009320391"/>
                    </a:ext>
                  </a:extLst>
                </a:gridCol>
                <a:gridCol w="1591905">
                  <a:extLst>
                    <a:ext uri="{9D8B030D-6E8A-4147-A177-3AD203B41FA5}">
                      <a16:colId xmlns:a16="http://schemas.microsoft.com/office/drawing/2014/main" val="1997511163"/>
                    </a:ext>
                  </a:extLst>
                </a:gridCol>
                <a:gridCol w="2162140">
                  <a:extLst>
                    <a:ext uri="{9D8B030D-6E8A-4147-A177-3AD203B41FA5}">
                      <a16:colId xmlns:a16="http://schemas.microsoft.com/office/drawing/2014/main" val="1415952302"/>
                    </a:ext>
                  </a:extLst>
                </a:gridCol>
              </a:tblGrid>
              <a:tr h="149239"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00" u="none" strike="noStrike" dirty="0">
                          <a:effectLst/>
                        </a:rPr>
                        <a:t>島嶼名稱 </a:t>
                      </a:r>
                      <a:endParaRPr lang="zh-TW" altLang="en-US" sz="1000" b="1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00" u="none" strike="noStrike" dirty="0">
                          <a:effectLst/>
                        </a:rPr>
                        <a:t>地理位置</a:t>
                      </a:r>
                      <a:endParaRPr lang="zh-TW" altLang="en-US" sz="1000" b="1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00" u="none" strike="noStrike" dirty="0">
                          <a:effectLst/>
                        </a:rPr>
                        <a:t>駐軍</a:t>
                      </a:r>
                      <a:r>
                        <a:rPr lang="en-US" altLang="zh-TW" sz="1000" u="none" strike="noStrike" dirty="0">
                          <a:effectLst/>
                        </a:rPr>
                        <a:t>/</a:t>
                      </a:r>
                      <a:r>
                        <a:rPr lang="zh-TW" altLang="en-US" sz="1000" u="none" strike="noStrike" dirty="0">
                          <a:effectLst/>
                        </a:rPr>
                        <a:t>部署狀況</a:t>
                      </a:r>
                      <a:endParaRPr lang="zh-TW" altLang="en-US" sz="1000" b="1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00" u="none" strike="noStrike" dirty="0">
                          <a:effectLst/>
                        </a:rPr>
                        <a:t>主要武力與設施</a:t>
                      </a:r>
                      <a:endParaRPr lang="zh-TW" altLang="en-US" sz="1000" b="1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00" u="none" strike="noStrike" dirty="0">
                          <a:effectLst/>
                        </a:rPr>
                        <a:t>最新進展與備註</a:t>
                      </a:r>
                      <a:endParaRPr lang="zh-TW" altLang="en-US" sz="1000" b="1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3661327"/>
                  </a:ext>
                </a:extLst>
              </a:tr>
              <a:tr h="221798"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00" u="none" strike="noStrike" dirty="0">
                          <a:solidFill>
                            <a:srgbClr val="0000FF"/>
                          </a:solidFill>
                          <a:effectLst/>
                        </a:rPr>
                        <a:t>與那國島</a:t>
                      </a:r>
                      <a:endParaRPr lang="zh-TW" alt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00" u="none" strike="noStrike" dirty="0">
                          <a:solidFill>
                            <a:srgbClr val="0000FF"/>
                          </a:solidFill>
                          <a:effectLst/>
                        </a:rPr>
                        <a:t>日本最西端，距台</a:t>
                      </a:r>
                      <a:r>
                        <a:rPr lang="en-US" altLang="zh-TW" sz="1000" u="none" strike="noStrike" dirty="0">
                          <a:solidFill>
                            <a:srgbClr val="0000FF"/>
                          </a:solidFill>
                          <a:effectLst/>
                        </a:rPr>
                        <a:t>110</a:t>
                      </a:r>
                      <a:r>
                        <a:rPr lang="zh-TW" altLang="en-US" sz="1000" u="none" strike="noStrike" dirty="0">
                          <a:solidFill>
                            <a:srgbClr val="0000FF"/>
                          </a:solidFill>
                          <a:effectLst/>
                        </a:rPr>
                        <a:t>公里</a:t>
                      </a:r>
                      <a:endParaRPr lang="zh-TW" alt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TW" sz="1000" u="none" strike="noStrike" dirty="0">
                          <a:solidFill>
                            <a:srgbClr val="0000FF"/>
                          </a:solidFill>
                          <a:effectLst/>
                        </a:rPr>
                        <a:t>2016</a:t>
                      </a:r>
                      <a:r>
                        <a:rPr lang="zh-TW" altLang="en-US" sz="1000" u="none" strike="noStrike" dirty="0">
                          <a:solidFill>
                            <a:srgbClr val="0000FF"/>
                          </a:solidFill>
                          <a:effectLst/>
                        </a:rPr>
                        <a:t>年駐軍</a:t>
                      </a:r>
                      <a:endParaRPr lang="zh-TW" alt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00" u="none" strike="noStrike" dirty="0">
                          <a:solidFill>
                            <a:srgbClr val="0000FF"/>
                          </a:solidFill>
                          <a:effectLst/>
                        </a:rPr>
                        <a:t>沿岸監視部隊</a:t>
                      </a:r>
                      <a:endParaRPr lang="zh-TW" alt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00" u="none" strike="noStrike" dirty="0">
                          <a:solidFill>
                            <a:srgbClr val="0000FF"/>
                          </a:solidFill>
                          <a:effectLst/>
                        </a:rPr>
                        <a:t>預計</a:t>
                      </a:r>
                      <a:r>
                        <a:rPr lang="en-US" altLang="zh-TW" sz="1000" u="none" strike="noStrike" dirty="0">
                          <a:solidFill>
                            <a:srgbClr val="0000FF"/>
                          </a:solidFill>
                          <a:effectLst/>
                        </a:rPr>
                        <a:t>2026</a:t>
                      </a:r>
                      <a:r>
                        <a:rPr lang="zh-TW" altLang="en-US" sz="1000" u="none" strike="noStrike" dirty="0">
                          <a:solidFill>
                            <a:srgbClr val="0000FF"/>
                          </a:solidFill>
                          <a:effectLst/>
                        </a:rPr>
                        <a:t>年度部署</a:t>
                      </a:r>
                      <a:r>
                        <a:rPr lang="zh-TW" altLang="en-US" sz="1000" b="1" u="none" strike="noStrike" dirty="0">
                          <a:solidFill>
                            <a:srgbClr val="0000FF"/>
                          </a:solidFill>
                          <a:effectLst/>
                        </a:rPr>
                        <a:t>防空電子戰部隊</a:t>
                      </a:r>
                      <a:r>
                        <a:rPr lang="zh-TW" altLang="en-US" sz="1000" u="none" strike="noStrike" dirty="0">
                          <a:solidFill>
                            <a:srgbClr val="0000FF"/>
                          </a:solidFill>
                          <a:effectLst/>
                        </a:rPr>
                        <a:t>，</a:t>
                      </a:r>
                      <a:r>
                        <a:rPr lang="zh-TW" altLang="en-US" sz="1000" b="1" u="none" strike="noStrike" dirty="0">
                          <a:solidFill>
                            <a:srgbClr val="0000FF"/>
                          </a:solidFill>
                          <a:effectLst/>
                        </a:rPr>
                        <a:t>未來潛在部署防空飛彈</a:t>
                      </a:r>
                      <a:r>
                        <a:rPr lang="zh-TW" altLang="en-US" sz="1000" u="none" strike="noStrike" dirty="0">
                          <a:solidFill>
                            <a:srgbClr val="0000FF"/>
                          </a:solidFill>
                          <a:effectLst/>
                        </a:rPr>
                        <a:t>。</a:t>
                      </a:r>
                      <a:endParaRPr lang="zh-TW" altLang="en-US" sz="1000" b="1" i="0" u="none" strike="noStrike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2500108"/>
                  </a:ext>
                </a:extLst>
              </a:tr>
              <a:tr h="326826"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00" u="none" strike="noStrike" dirty="0">
                          <a:effectLst/>
                        </a:rPr>
                        <a:t>石垣島</a:t>
                      </a:r>
                      <a:endParaRPr lang="zh-TW" altLang="en-US" sz="1000" b="1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00" u="none" strike="noStrike" dirty="0">
                          <a:effectLst/>
                        </a:rPr>
                        <a:t>琉球列島八重山群島</a:t>
                      </a:r>
                      <a:endParaRPr lang="zh-TW" altLang="en-US" sz="10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TW" sz="1000" u="none" strike="noStrike" dirty="0">
                          <a:effectLst/>
                        </a:rPr>
                        <a:t>2023</a:t>
                      </a:r>
                      <a:r>
                        <a:rPr lang="zh-TW" altLang="en-US" sz="1000" u="none" strike="noStrike" dirty="0">
                          <a:effectLst/>
                        </a:rPr>
                        <a:t>年</a:t>
                      </a:r>
                      <a:r>
                        <a:rPr lang="en-US" altLang="zh-TW" sz="1000" u="none" strike="noStrike" dirty="0">
                          <a:effectLst/>
                        </a:rPr>
                        <a:t>3</a:t>
                      </a:r>
                      <a:r>
                        <a:rPr lang="zh-TW" altLang="en-US" sz="1000" u="none" strike="noStrike" dirty="0">
                          <a:effectLst/>
                        </a:rPr>
                        <a:t>月新設基地</a:t>
                      </a:r>
                      <a:endParaRPr lang="zh-TW" altLang="en-US" sz="10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TW" sz="1000" u="none" strike="noStrike" dirty="0">
                          <a:effectLst/>
                        </a:rPr>
                        <a:t>12</a:t>
                      </a:r>
                      <a:r>
                        <a:rPr lang="zh-TW" altLang="en-US" sz="1000" u="none" strike="noStrike" dirty="0">
                          <a:effectLst/>
                        </a:rPr>
                        <a:t>式岸艦飛彈 </a:t>
                      </a:r>
                      <a:r>
                        <a:rPr lang="en-US" altLang="zh-TW" sz="1000" u="none" strike="noStrike" dirty="0">
                          <a:effectLst/>
                        </a:rPr>
                        <a:t>(SSM)</a:t>
                      </a:r>
                      <a:r>
                        <a:rPr lang="zh-TW" altLang="en-US" sz="1000" u="none" strike="noStrike" dirty="0">
                          <a:effectLst/>
                        </a:rPr>
                        <a:t>、</a:t>
                      </a:r>
                      <a:r>
                        <a:rPr lang="en-US" altLang="zh-TW" sz="1000" u="none" strike="noStrike" dirty="0">
                          <a:effectLst/>
                        </a:rPr>
                        <a:t>03</a:t>
                      </a:r>
                      <a:r>
                        <a:rPr lang="zh-TW" altLang="en-US" sz="1000" u="none" strike="noStrike" dirty="0">
                          <a:effectLst/>
                        </a:rPr>
                        <a:t>式中程地對空飛彈 </a:t>
                      </a:r>
                      <a:r>
                        <a:rPr lang="en-US" altLang="zh-TW" sz="1000" u="none" strike="noStrike" dirty="0">
                          <a:effectLst/>
                        </a:rPr>
                        <a:t>(Chu-SAM)</a:t>
                      </a:r>
                      <a:endParaRPr lang="en-US" altLang="zh-TW" sz="10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00" u="none" strike="noStrike">
                          <a:effectLst/>
                        </a:rPr>
                        <a:t>新設立的飛彈基地，大幅提升反艦與防空能力。</a:t>
                      </a:r>
                      <a:endParaRPr lang="zh-TW" altLang="en-US" sz="10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750164"/>
                  </a:ext>
                </a:extLst>
              </a:tr>
              <a:tr h="219909"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00" u="none" strike="noStrike">
                          <a:effectLst/>
                        </a:rPr>
                        <a:t>宮古島</a:t>
                      </a:r>
                      <a:endParaRPr lang="zh-TW" altLang="en-US" sz="10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00" u="none" strike="noStrike">
                          <a:effectLst/>
                        </a:rPr>
                        <a:t>琉球列島宮古群島</a:t>
                      </a:r>
                      <a:endParaRPr lang="zh-TW" altLang="en-US" sz="10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TW" sz="1000" u="none" strike="noStrike">
                          <a:effectLst/>
                        </a:rPr>
                        <a:t>2019</a:t>
                      </a:r>
                      <a:r>
                        <a:rPr lang="zh-TW" altLang="en-US" sz="1000" u="none" strike="noStrike">
                          <a:effectLst/>
                        </a:rPr>
                        <a:t>年駐軍</a:t>
                      </a:r>
                      <a:endParaRPr lang="zh-TW" altLang="en-US" sz="10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TW" sz="1000" u="none" strike="noStrike" dirty="0">
                          <a:effectLst/>
                        </a:rPr>
                        <a:t>12</a:t>
                      </a:r>
                      <a:r>
                        <a:rPr lang="zh-TW" altLang="en-US" sz="1000" u="none" strike="noStrike" dirty="0">
                          <a:effectLst/>
                        </a:rPr>
                        <a:t>式岸艦飛彈 </a:t>
                      </a:r>
                      <a:r>
                        <a:rPr lang="en-US" altLang="zh-TW" sz="1000" u="none" strike="noStrike" dirty="0">
                          <a:effectLst/>
                        </a:rPr>
                        <a:t>(SSM)</a:t>
                      </a:r>
                      <a:r>
                        <a:rPr lang="zh-TW" altLang="en-US" sz="1000" u="none" strike="noStrike" dirty="0">
                          <a:effectLst/>
                        </a:rPr>
                        <a:t>、雷達設施</a:t>
                      </a:r>
                      <a:endParaRPr lang="zh-TW" altLang="en-US" sz="10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00" u="none" strike="noStrike" dirty="0">
                          <a:effectLst/>
                        </a:rPr>
                        <a:t>設有第</a:t>
                      </a:r>
                      <a:r>
                        <a:rPr lang="en-US" altLang="zh-TW" sz="1000" u="none" strike="noStrike" dirty="0">
                          <a:effectLst/>
                        </a:rPr>
                        <a:t>302</a:t>
                      </a:r>
                      <a:r>
                        <a:rPr lang="zh-TW" altLang="en-US" sz="1000" u="none" strike="noStrike" dirty="0">
                          <a:effectLst/>
                        </a:rPr>
                        <a:t>岸艦飛彈中隊，是重要的反艦飛彈據點。</a:t>
                      </a:r>
                      <a:endParaRPr lang="zh-TW" altLang="en-US" sz="10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0880403"/>
                  </a:ext>
                </a:extLst>
              </a:tr>
              <a:tr h="326826"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00" u="none" strike="noStrike">
                          <a:effectLst/>
                        </a:rPr>
                        <a:t>沖繩本島</a:t>
                      </a:r>
                      <a:endParaRPr lang="zh-TW" altLang="en-US" sz="10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00" u="none" strike="noStrike">
                          <a:effectLst/>
                        </a:rPr>
                        <a:t>琉球群島核心</a:t>
                      </a:r>
                      <a:endParaRPr lang="zh-TW" altLang="en-US" sz="10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00" u="none" strike="noStrike">
                          <a:effectLst/>
                        </a:rPr>
                        <a:t>長期駐紮</a:t>
                      </a:r>
                      <a:endParaRPr lang="zh-TW" altLang="en-US" sz="10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TW" sz="1000" u="none" strike="noStrike">
                          <a:effectLst/>
                        </a:rPr>
                        <a:t>12</a:t>
                      </a:r>
                      <a:r>
                        <a:rPr lang="zh-TW" altLang="en-US" sz="1000" u="none" strike="noStrike">
                          <a:effectLst/>
                        </a:rPr>
                        <a:t>式岸艦飛彈、愛國者三型飛彈 </a:t>
                      </a:r>
                      <a:r>
                        <a:rPr lang="en-US" altLang="zh-TW" sz="1000" u="none" strike="noStrike">
                          <a:effectLst/>
                        </a:rPr>
                        <a:t>(PAC-3)</a:t>
                      </a:r>
                      <a:r>
                        <a:rPr lang="zh-TW" altLang="en-US" sz="1000" u="none" strike="noStrike">
                          <a:effectLst/>
                        </a:rPr>
                        <a:t>、美軍基地</a:t>
                      </a:r>
                      <a:endParaRPr lang="zh-TW" altLang="en-US" sz="10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14287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00" u="none" strike="noStrike" dirty="0">
                          <a:effectLst/>
                        </a:rPr>
                        <a:t>日本西南地區最重要的戰略核心，</a:t>
                      </a:r>
                      <a:r>
                        <a:rPr lang="en-US" altLang="zh-TW" sz="1000" u="none" strike="noStrike" dirty="0">
                          <a:effectLst/>
                        </a:rPr>
                        <a:t>2024</a:t>
                      </a:r>
                      <a:r>
                        <a:rPr lang="zh-TW" altLang="en-US" sz="1000" u="none" strike="noStrike" dirty="0">
                          <a:effectLst/>
                        </a:rPr>
                        <a:t>年</a:t>
                      </a:r>
                      <a:r>
                        <a:rPr lang="en-US" altLang="zh-TW" sz="1000" u="none" strike="noStrike" dirty="0">
                          <a:effectLst/>
                        </a:rPr>
                        <a:t>3</a:t>
                      </a:r>
                      <a:r>
                        <a:rPr lang="zh-TW" altLang="en-US" sz="1000" u="none" strike="noStrike" dirty="0">
                          <a:effectLst/>
                        </a:rPr>
                        <a:t>月增強</a:t>
                      </a:r>
                      <a:r>
                        <a:rPr lang="en-US" altLang="zh-TW" sz="1000" u="none" strike="noStrike" dirty="0">
                          <a:effectLst/>
                        </a:rPr>
                        <a:t>12</a:t>
                      </a:r>
                      <a:r>
                        <a:rPr lang="zh-TW" altLang="en-US" sz="1000" u="none" strike="noStrike" dirty="0">
                          <a:effectLst/>
                        </a:rPr>
                        <a:t>式飛彈部署。</a:t>
                      </a:r>
                      <a:endParaRPr lang="zh-TW" altLang="en-US" sz="10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9468365"/>
                  </a:ext>
                </a:extLst>
              </a:tr>
            </a:tbl>
          </a:graphicData>
        </a:graphic>
      </p:graphicFrame>
      <p:sp>
        <p:nvSpPr>
          <p:cNvPr id="12" name="Line 140">
            <a:extLst>
              <a:ext uri="{FF2B5EF4-FFF2-40B4-BE49-F238E27FC236}">
                <a16:creationId xmlns:a16="http://schemas.microsoft.com/office/drawing/2014/main" id="{54F4CE45-D574-4F1E-A796-F02704E948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1464" y="237226"/>
            <a:ext cx="6026492" cy="8412"/>
          </a:xfrm>
          <a:prstGeom prst="line">
            <a:avLst/>
          </a:prstGeom>
          <a:noFill/>
          <a:ln w="9525">
            <a:solidFill>
              <a:srgbClr val="BAB184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14320DD1-ED09-483A-916B-14A3BF056842}"/>
              </a:ext>
            </a:extLst>
          </p:cNvPr>
          <p:cNvSpPr txBox="1">
            <a:spLocks/>
          </p:cNvSpPr>
          <p:nvPr/>
        </p:nvSpPr>
        <p:spPr bwMode="auto">
          <a:xfrm>
            <a:off x="720000" y="431998"/>
            <a:ext cx="10800000" cy="819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>
            <a:lvl1pPr algn="l" defTabSz="457200" rtl="0" fontAlgn="base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3D3935"/>
                </a:solidFill>
                <a:latin typeface="+mj-lt"/>
                <a:ea typeface="微軟正黑體" pitchFamily="34" charset="-120"/>
                <a:cs typeface="Arial Unicode MS" pitchFamily="34" charset="-120"/>
              </a:defRPr>
            </a:lvl1pPr>
            <a:lvl2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2pPr>
            <a:lvl3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3pPr>
            <a:lvl4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4pPr>
            <a:lvl5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9pPr>
          </a:lstStyle>
          <a:p>
            <a:pPr>
              <a:defRPr/>
            </a:pPr>
            <a:r>
              <a:rPr kumimoji="0" lang="zh-TW" altLang="en-US" dirty="0">
                <a:latin typeface="微軟正黑體"/>
              </a:rPr>
              <a:t>中日軍事緊張情勢地緣政治風險又升溫  </a:t>
            </a:r>
            <a:endParaRPr kumimoji="0" lang="en-US" altLang="zh-TW" dirty="0">
              <a:latin typeface="微軟正黑體"/>
            </a:endParaRPr>
          </a:p>
          <a:p>
            <a:pPr>
              <a:defRPr/>
            </a:pPr>
            <a:r>
              <a:rPr kumimoji="0" lang="zh-TW" altLang="en-US" sz="1800" dirty="0">
                <a:solidFill>
                  <a:srgbClr val="0000FF"/>
                </a:solidFill>
                <a:latin typeface="微軟正黑體" panose="020B0604030504040204" pitchFamily="34" charset="-120"/>
              </a:rPr>
              <a:t>日本正逐步構建飛彈群島，其中與那國島作為距離台灣僅</a:t>
            </a:r>
            <a:r>
              <a:rPr kumimoji="0" lang="en-US" altLang="zh-TW" sz="1800" dirty="0">
                <a:solidFill>
                  <a:srgbClr val="0000FF"/>
                </a:solidFill>
                <a:latin typeface="微軟正黑體" panose="020B0604030504040204" pitchFamily="34" charset="-120"/>
              </a:rPr>
              <a:t>110</a:t>
            </a:r>
            <a:r>
              <a:rPr kumimoji="0" lang="zh-TW" altLang="en-US" sz="1800" dirty="0">
                <a:solidFill>
                  <a:srgbClr val="0000FF"/>
                </a:solidFill>
                <a:latin typeface="微軟正黑體" panose="020B0604030504040204" pitchFamily="34" charset="-120"/>
              </a:rPr>
              <a:t>公里，已成為這條防線的最前線核心。</a:t>
            </a:r>
            <a:endParaRPr kumimoji="0" lang="en-US" altLang="zh-TW" sz="105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軟正黑體" panose="020B0604030504040204" pitchFamily="34" charset="-120"/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D6F32129-34FE-4E40-A4A6-3A53EDCCFFB9}"/>
              </a:ext>
            </a:extLst>
          </p:cNvPr>
          <p:cNvGrpSpPr/>
          <p:nvPr/>
        </p:nvGrpSpPr>
        <p:grpSpPr>
          <a:xfrm>
            <a:off x="7302082" y="116632"/>
            <a:ext cx="3978494" cy="244175"/>
            <a:chOff x="7302082" y="116632"/>
            <a:chExt cx="3978494" cy="244175"/>
          </a:xfrm>
        </p:grpSpPr>
        <p:sp>
          <p:nvSpPr>
            <p:cNvPr id="15" name="矩形: 圓角 14">
              <a:extLst>
                <a:ext uri="{FF2B5EF4-FFF2-40B4-BE49-F238E27FC236}">
                  <a16:creationId xmlns:a16="http://schemas.microsoft.com/office/drawing/2014/main" id="{C6AF6CC6-4469-47FE-AEA1-2F96C1ED1187}"/>
                </a:ext>
              </a:extLst>
            </p:cNvPr>
            <p:cNvSpPr/>
            <p:nvPr/>
          </p:nvSpPr>
          <p:spPr>
            <a:xfrm>
              <a:off x="7302082" y="116632"/>
              <a:ext cx="993592" cy="242364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總體經濟</a:t>
              </a:r>
            </a:p>
          </p:txBody>
        </p:sp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7FFF9240-787A-46ED-A0DC-8F78C3CF9365}"/>
                </a:ext>
              </a:extLst>
            </p:cNvPr>
            <p:cNvSpPr/>
            <p:nvPr/>
          </p:nvSpPr>
          <p:spPr>
            <a:xfrm>
              <a:off x="8299800" y="116632"/>
              <a:ext cx="993592" cy="24236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股票市場</a:t>
              </a:r>
              <a:endParaRPr kumimoji="1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endParaRPr>
            </a:p>
          </p:txBody>
        </p:sp>
        <p:sp>
          <p:nvSpPr>
            <p:cNvPr id="17" name="矩形: 圓角 16">
              <a:extLst>
                <a:ext uri="{FF2B5EF4-FFF2-40B4-BE49-F238E27FC236}">
                  <a16:creationId xmlns:a16="http://schemas.microsoft.com/office/drawing/2014/main" id="{0F8AB669-4C55-4332-8562-28FBDB0A9791}"/>
                </a:ext>
              </a:extLst>
            </p:cNvPr>
            <p:cNvSpPr/>
            <p:nvPr/>
          </p:nvSpPr>
          <p:spPr>
            <a:xfrm>
              <a:off x="9293392" y="116632"/>
              <a:ext cx="993592" cy="24236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利率</a:t>
              </a:r>
              <a:r>
                <a:rPr kumimoji="1" lang="en-US" altLang="zh-TW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,</a:t>
              </a: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債市</a:t>
              </a:r>
            </a:p>
          </p:txBody>
        </p:sp>
        <p:sp>
          <p:nvSpPr>
            <p:cNvPr id="18" name="矩形: 圓角 17">
              <a:extLst>
                <a:ext uri="{FF2B5EF4-FFF2-40B4-BE49-F238E27FC236}">
                  <a16:creationId xmlns:a16="http://schemas.microsoft.com/office/drawing/2014/main" id="{3246F6D7-C047-4EDB-A154-58E1E6F12502}"/>
                </a:ext>
              </a:extLst>
            </p:cNvPr>
            <p:cNvSpPr/>
            <p:nvPr/>
          </p:nvSpPr>
          <p:spPr>
            <a:xfrm>
              <a:off x="10286984" y="118443"/>
              <a:ext cx="993592" cy="24236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匯率市場</a:t>
              </a:r>
            </a:p>
          </p:txBody>
        </p:sp>
      </p:grpSp>
      <p:pic>
        <p:nvPicPr>
          <p:cNvPr id="19" name="Picture 8" descr="https://upload.wikimedia.org/wikipedia/commons/thumb/7/72/Flag_of_the_Republic_of_China.svg/250px-Flag_of_the_Republic_of_China.svg.png">
            <a:extLst>
              <a:ext uri="{FF2B5EF4-FFF2-40B4-BE49-F238E27FC236}">
                <a16:creationId xmlns:a16="http://schemas.microsoft.com/office/drawing/2014/main" id="{B54768B8-DE53-4461-BF5E-70620FD43BA0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5482" y="74309"/>
            <a:ext cx="6876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日本国旗| Flagpedia.asia">
            <a:extLst>
              <a:ext uri="{FF2B5EF4-FFF2-40B4-BE49-F238E27FC236}">
                <a16:creationId xmlns:a16="http://schemas.microsoft.com/office/drawing/2014/main" id="{0E585C11-80AF-406A-8BB9-05E36045BBF3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5482" y="74309"/>
            <a:ext cx="687600" cy="360000"/>
          </a:xfrm>
          <a:prstGeom prst="rect">
            <a:avLst/>
          </a:prstGeom>
          <a:noFill/>
          <a:ln>
            <a:solidFill>
              <a:srgbClr val="E4E7E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F6F753-B64F-4FBC-A50D-D56CD94B6873}"/>
              </a:ext>
            </a:extLst>
          </p:cNvPr>
          <p:cNvSpPr txBox="1"/>
          <p:nvPr/>
        </p:nvSpPr>
        <p:spPr>
          <a:xfrm>
            <a:off x="8431921" y="6449639"/>
            <a:ext cx="3034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圖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\</a:t>
            </a: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表 資料來源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:Bloomberg</a:t>
            </a:r>
            <a:endParaRPr kumimoji="0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A8615A8-3A3F-4DC8-ACFD-6B9BA27AA7A6}"/>
              </a:ext>
            </a:extLst>
          </p:cNvPr>
          <p:cNvSpPr/>
          <p:nvPr/>
        </p:nvSpPr>
        <p:spPr>
          <a:xfrm rot="20441668">
            <a:off x="4649792" y="2595863"/>
            <a:ext cx="6375770" cy="1534874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0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1640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>
            <a:extLst>
              <a:ext uri="{FF2B5EF4-FFF2-40B4-BE49-F238E27FC236}">
                <a16:creationId xmlns:a16="http://schemas.microsoft.com/office/drawing/2014/main" id="{B6D5429C-46C1-497C-9223-A65198BC7735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940000" y="1440000"/>
            <a:ext cx="5400000" cy="4860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id="{40DB7E97-CDC8-4E91-9E0C-29C054E31DA4}"/>
              </a:ext>
            </a:extLst>
          </p:cNvPr>
          <p:cNvSpPr txBox="1">
            <a:spLocks/>
          </p:cNvSpPr>
          <p:nvPr/>
        </p:nvSpPr>
        <p:spPr bwMode="auto">
          <a:xfrm>
            <a:off x="720000" y="431999"/>
            <a:ext cx="11280656" cy="892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>
            <a:lvl1pPr algn="l" defTabSz="457200" rtl="0" fontAlgn="base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3D3935"/>
                </a:solidFill>
                <a:latin typeface="+mj-lt"/>
                <a:ea typeface="微軟正黑體" pitchFamily="34" charset="-120"/>
                <a:cs typeface="Arial Unicode MS" pitchFamily="34" charset="-120"/>
              </a:defRPr>
            </a:lvl1pPr>
            <a:lvl2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2pPr>
            <a:lvl3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3pPr>
            <a:lvl4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4pPr>
            <a:lvl5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9pPr>
          </a:lstStyle>
          <a:p>
            <a:pPr lvl="0">
              <a:defRPr/>
            </a:pPr>
            <a:r>
              <a:rPr kumimoji="0" lang="zh-TW" altLang="en-US" dirty="0">
                <a:latin typeface="微軟正黑體"/>
              </a:rPr>
              <a:t>金價重新創高</a:t>
            </a:r>
            <a:r>
              <a:rPr kumimoji="0" lang="en-US" altLang="zh-TW" dirty="0">
                <a:latin typeface="微軟正黑體"/>
              </a:rPr>
              <a:t>,</a:t>
            </a:r>
            <a:r>
              <a:rPr kumimoji="0" lang="zh-TW" altLang="en-US" dirty="0">
                <a:latin typeface="微軟正黑體"/>
              </a:rPr>
              <a:t>部分原因或來自比特幣下跌後移轉買盤</a:t>
            </a:r>
            <a:endParaRPr kumimoji="0" lang="en-US" altLang="zh-TW" dirty="0">
              <a:latin typeface="微軟正黑體"/>
            </a:endParaRPr>
          </a:p>
          <a:p>
            <a:pPr lvl="0">
              <a:defRPr/>
            </a:pPr>
            <a:r>
              <a:rPr kumimoji="0" lang="zh-TW" altLang="en-US" sz="2400" dirty="0">
                <a:solidFill>
                  <a:srgbClr val="0000FF"/>
                </a:solidFill>
                <a:highlight>
                  <a:srgbClr val="FFFF00"/>
                </a:highlight>
                <a:latin typeface="微軟正黑體"/>
              </a:rPr>
              <a:t>過去兩年只要看到比特幣轉弱 約略同期間金價就會相對走強</a:t>
            </a:r>
            <a:endParaRPr kumimoji="0" lang="en-US" altLang="zh-TW" sz="2400" dirty="0">
              <a:solidFill>
                <a:srgbClr val="0000FF"/>
              </a:solidFill>
              <a:highlight>
                <a:srgbClr val="FFFF00"/>
              </a:highlight>
              <a:latin typeface="微軟正黑體"/>
            </a:endParaRPr>
          </a:p>
          <a:p>
            <a:pPr lvl="0">
              <a:defRPr/>
            </a:pPr>
            <a:endParaRPr kumimoji="0" lang="zh-TW" altLang="en-US" dirty="0">
              <a:latin typeface="微軟正黑體"/>
            </a:endParaRPr>
          </a:p>
          <a:p>
            <a:pPr lvl="0">
              <a:defRPr/>
            </a:pPr>
            <a:endParaRPr kumimoji="0" lang="en-US" altLang="zh-CN" dirty="0">
              <a:latin typeface="微軟正黑體"/>
            </a:endParaRPr>
          </a:p>
        </p:txBody>
      </p:sp>
      <p:sp>
        <p:nvSpPr>
          <p:cNvPr id="5" name="Line 140">
            <a:extLst>
              <a:ext uri="{FF2B5EF4-FFF2-40B4-BE49-F238E27FC236}">
                <a16:creationId xmlns:a16="http://schemas.microsoft.com/office/drawing/2014/main" id="{14008DFD-5B28-427C-A615-CCFC5A8CCE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1464" y="237226"/>
            <a:ext cx="6026492" cy="8412"/>
          </a:xfrm>
          <a:prstGeom prst="line">
            <a:avLst/>
          </a:prstGeom>
          <a:noFill/>
          <a:ln w="9525">
            <a:solidFill>
              <a:srgbClr val="BAB184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0A4E9E7B-8556-484A-866A-6B3C3BAE116C}"/>
              </a:ext>
            </a:extLst>
          </p:cNvPr>
          <p:cNvGrpSpPr/>
          <p:nvPr/>
        </p:nvGrpSpPr>
        <p:grpSpPr>
          <a:xfrm>
            <a:off x="7302082" y="116632"/>
            <a:ext cx="3978494" cy="244175"/>
            <a:chOff x="7302082" y="116632"/>
            <a:chExt cx="3978494" cy="244175"/>
          </a:xfrm>
        </p:grpSpPr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E9994BB6-BFED-4B23-97B4-D4B655E27B8D}"/>
                </a:ext>
              </a:extLst>
            </p:cNvPr>
            <p:cNvSpPr/>
            <p:nvPr/>
          </p:nvSpPr>
          <p:spPr>
            <a:xfrm>
              <a:off x="7302082" y="116632"/>
              <a:ext cx="993592" cy="24236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總體經濟</a:t>
              </a:r>
            </a:p>
          </p:txBody>
        </p:sp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6428E928-FFDA-412B-9BA6-EFA16D7F2379}"/>
                </a:ext>
              </a:extLst>
            </p:cNvPr>
            <p:cNvSpPr/>
            <p:nvPr/>
          </p:nvSpPr>
          <p:spPr>
            <a:xfrm>
              <a:off x="8299800" y="116632"/>
              <a:ext cx="993592" cy="24236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股票市場</a:t>
              </a:r>
              <a:endParaRPr kumimoji="1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endParaRPr>
            </a:p>
          </p:txBody>
        </p: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C554B55B-8858-4990-AE66-3DB3625DB9D9}"/>
                </a:ext>
              </a:extLst>
            </p:cNvPr>
            <p:cNvSpPr/>
            <p:nvPr/>
          </p:nvSpPr>
          <p:spPr>
            <a:xfrm>
              <a:off x="9293392" y="116632"/>
              <a:ext cx="993592" cy="24236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利率</a:t>
              </a:r>
              <a:r>
                <a:rPr lang="en-US" altLang="zh-TW" sz="1000" dirty="0">
                  <a:solidFill>
                    <a:sysClr val="window" lastClr="FFFFFF"/>
                  </a:solidFill>
                  <a:latin typeface="微軟正黑體"/>
                  <a:ea typeface="微軟正黑體"/>
                </a:rPr>
                <a:t>,</a:t>
              </a: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債市</a:t>
              </a:r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C74071DB-02D9-4FC6-9589-C7B51BCA3E43}"/>
                </a:ext>
              </a:extLst>
            </p:cNvPr>
            <p:cNvSpPr/>
            <p:nvPr/>
          </p:nvSpPr>
          <p:spPr>
            <a:xfrm>
              <a:off x="10286984" y="118443"/>
              <a:ext cx="993592" cy="242364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E4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TW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軟正黑體"/>
                  <a:ea typeface="微軟正黑體"/>
                  <a:cs typeface="+mn-cs"/>
                </a:rPr>
                <a:t>商品市場</a:t>
              </a:r>
            </a:p>
          </p:txBody>
        </p:sp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16BD46D-248B-4BAF-A8FB-B676650DAE11}"/>
              </a:ext>
            </a:extLst>
          </p:cNvPr>
          <p:cNvSpPr txBox="1"/>
          <p:nvPr/>
        </p:nvSpPr>
        <p:spPr>
          <a:xfrm>
            <a:off x="8431921" y="6449639"/>
            <a:ext cx="3034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圖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\</a:t>
            </a: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表 資料來源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:Bloomberg</a:t>
            </a:r>
            <a:endParaRPr kumimoji="0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76A2BCCC-ABA0-4861-AAC5-C0284012220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368" y="74309"/>
            <a:ext cx="685714" cy="360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7446C3EC-8E31-466F-ABBF-56BDD3D487BF}"/>
              </a:ext>
            </a:extLst>
          </p:cNvPr>
          <p:cNvSpPr txBox="1"/>
          <p:nvPr/>
        </p:nvSpPr>
        <p:spPr>
          <a:xfrm>
            <a:off x="8484867" y="1791975"/>
            <a:ext cx="144142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比特幣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美元</a:t>
            </a:r>
            <a:endParaRPr lang="en-US" altLang="zh-TW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金價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endParaRPr lang="en-US" altLang="zh-TW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1565C97A-7140-4549-ACCE-E7D998B8737E}"/>
              </a:ext>
            </a:extLst>
          </p:cNvPr>
          <p:cNvPicPr preferRelativeResize="0">
            <a:picLocks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482" y="74309"/>
            <a:ext cx="687600" cy="360000"/>
          </a:xfrm>
          <a:prstGeom prst="rect">
            <a:avLst/>
          </a:prstGeom>
          <a:ln>
            <a:solidFill>
              <a:srgbClr val="FFFFFF">
                <a:lumMod val="85000"/>
              </a:srgbClr>
            </a:solidFill>
          </a:ln>
        </p:spPr>
      </p:pic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A2AF75E7-C312-4B21-AF0E-A19883F8AFED}"/>
              </a:ext>
            </a:extLst>
          </p:cNvPr>
          <p:cNvCxnSpPr/>
          <p:nvPr/>
        </p:nvCxnSpPr>
        <p:spPr>
          <a:xfrm>
            <a:off x="6744072" y="3501008"/>
            <a:ext cx="1224136" cy="576064"/>
          </a:xfrm>
          <a:prstGeom prst="straightConnector1">
            <a:avLst/>
          </a:prstGeom>
          <a:ln w="9525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8203F2E-D7E9-42A8-A5BE-4A5D20CF77C4}"/>
              </a:ext>
            </a:extLst>
          </p:cNvPr>
          <p:cNvCxnSpPr>
            <a:cxnSpLocks/>
          </p:cNvCxnSpPr>
          <p:nvPr/>
        </p:nvCxnSpPr>
        <p:spPr>
          <a:xfrm flipV="1">
            <a:off x="7410734" y="3698543"/>
            <a:ext cx="955344" cy="1296539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1E16644E-A866-4468-97EA-EAB89231B302}"/>
              </a:ext>
            </a:extLst>
          </p:cNvPr>
          <p:cNvCxnSpPr>
            <a:cxnSpLocks/>
          </p:cNvCxnSpPr>
          <p:nvPr/>
        </p:nvCxnSpPr>
        <p:spPr>
          <a:xfrm>
            <a:off x="8179362" y="2261336"/>
            <a:ext cx="1169354" cy="877649"/>
          </a:xfrm>
          <a:prstGeom prst="straightConnector1">
            <a:avLst/>
          </a:prstGeom>
          <a:ln w="9525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726BCAE1-0F41-4E27-BAC0-071A7A156F63}"/>
              </a:ext>
            </a:extLst>
          </p:cNvPr>
          <p:cNvCxnSpPr>
            <a:cxnSpLocks/>
          </p:cNvCxnSpPr>
          <p:nvPr/>
        </p:nvCxnSpPr>
        <p:spPr>
          <a:xfrm flipV="1">
            <a:off x="8532125" y="3236793"/>
            <a:ext cx="955344" cy="1296539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5346FBD8-3F18-4CC6-A3A4-EA40949CF70C}"/>
              </a:ext>
            </a:extLst>
          </p:cNvPr>
          <p:cNvSpPr/>
          <p:nvPr/>
        </p:nvSpPr>
        <p:spPr>
          <a:xfrm>
            <a:off x="6960096" y="3429000"/>
            <a:ext cx="1296800" cy="1579728"/>
          </a:xfrm>
          <a:prstGeom prst="rect">
            <a:avLst/>
          </a:prstGeom>
          <a:noFill/>
          <a:ln w="28575">
            <a:solidFill>
              <a:srgbClr val="0000FF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B128A7A-E032-4252-AC21-44A7CD975B66}"/>
              </a:ext>
            </a:extLst>
          </p:cNvPr>
          <p:cNvSpPr/>
          <p:nvPr/>
        </p:nvSpPr>
        <p:spPr>
          <a:xfrm>
            <a:off x="8422681" y="2243919"/>
            <a:ext cx="926035" cy="2177955"/>
          </a:xfrm>
          <a:prstGeom prst="rect">
            <a:avLst/>
          </a:prstGeom>
          <a:noFill/>
          <a:ln w="28575">
            <a:solidFill>
              <a:srgbClr val="0000FF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998180A-A21D-4454-9B1D-5C15F7A055A0}"/>
              </a:ext>
            </a:extLst>
          </p:cNvPr>
          <p:cNvSpPr/>
          <p:nvPr/>
        </p:nvSpPr>
        <p:spPr>
          <a:xfrm>
            <a:off x="9951230" y="1561531"/>
            <a:ext cx="885092" cy="1809465"/>
          </a:xfrm>
          <a:prstGeom prst="rect">
            <a:avLst/>
          </a:prstGeom>
          <a:noFill/>
          <a:ln w="28575">
            <a:solidFill>
              <a:srgbClr val="0000FF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22B0B76B-4617-44C0-8594-300BEACD2443}"/>
              </a:ext>
            </a:extLst>
          </p:cNvPr>
          <p:cNvCxnSpPr>
            <a:cxnSpLocks/>
          </p:cNvCxnSpPr>
          <p:nvPr/>
        </p:nvCxnSpPr>
        <p:spPr>
          <a:xfrm>
            <a:off x="10078676" y="1772292"/>
            <a:ext cx="757646" cy="1257511"/>
          </a:xfrm>
          <a:prstGeom prst="straightConnector1">
            <a:avLst/>
          </a:prstGeom>
          <a:ln w="9525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C85E1633-587F-454F-A649-1A5E29DB0CCA}"/>
              </a:ext>
            </a:extLst>
          </p:cNvPr>
          <p:cNvCxnSpPr>
            <a:cxnSpLocks/>
          </p:cNvCxnSpPr>
          <p:nvPr/>
        </p:nvCxnSpPr>
        <p:spPr>
          <a:xfrm flipV="1">
            <a:off x="10349551" y="1514901"/>
            <a:ext cx="691488" cy="918952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D8B8ACF1-4EA0-411A-9B08-1B6DC266B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578981"/>
              </p:ext>
            </p:extLst>
          </p:nvPr>
        </p:nvGraphicFramePr>
        <p:xfrm>
          <a:off x="540000" y="1440000"/>
          <a:ext cx="5400000" cy="48600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084084">
                  <a:extLst>
                    <a:ext uri="{9D8B030D-6E8A-4147-A177-3AD203B41FA5}">
                      <a16:colId xmlns:a16="http://schemas.microsoft.com/office/drawing/2014/main" val="2336710846"/>
                    </a:ext>
                  </a:extLst>
                </a:gridCol>
                <a:gridCol w="1460310">
                  <a:extLst>
                    <a:ext uri="{9D8B030D-6E8A-4147-A177-3AD203B41FA5}">
                      <a16:colId xmlns:a16="http://schemas.microsoft.com/office/drawing/2014/main" val="2192714514"/>
                    </a:ext>
                  </a:extLst>
                </a:gridCol>
                <a:gridCol w="1283414">
                  <a:extLst>
                    <a:ext uri="{9D8B030D-6E8A-4147-A177-3AD203B41FA5}">
                      <a16:colId xmlns:a16="http://schemas.microsoft.com/office/drawing/2014/main" val="3205082073"/>
                    </a:ext>
                  </a:extLst>
                </a:gridCol>
                <a:gridCol w="1572192">
                  <a:extLst>
                    <a:ext uri="{9D8B030D-6E8A-4147-A177-3AD203B41FA5}">
                      <a16:colId xmlns:a16="http://schemas.microsoft.com/office/drawing/2014/main" val="2506076221"/>
                    </a:ext>
                  </a:extLst>
                </a:gridCol>
              </a:tblGrid>
              <a:tr h="810000"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18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機構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8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</a:t>
                      </a:r>
                      <a:r>
                        <a:rPr lang="zh-TW" altLang="en-US" sz="18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年目標價 </a:t>
                      </a:r>
                      <a:r>
                        <a:rPr lang="en-US" altLang="zh-TW" sz="18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8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美元</a:t>
                      </a:r>
                      <a:r>
                        <a:rPr lang="en-US" altLang="zh-TW" sz="18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8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盎司</a:t>
                      </a:r>
                      <a:r>
                        <a:rPr lang="en-US" altLang="zh-TW" sz="18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en-US" altLang="zh-TW" sz="1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18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發布日期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18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主要驅動因素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178291"/>
                  </a:ext>
                </a:extLst>
              </a:tr>
              <a:tr h="810000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高盛 </a:t>
                      </a:r>
                      <a:r>
                        <a:rPr lang="en-US" altLang="zh-TW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Goldman Sachs)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4900 (</a:t>
                      </a:r>
                      <a:r>
                        <a:rPr lang="zh-TW" altLang="en-US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年底</a:t>
                      </a:r>
                      <a:r>
                        <a:rPr lang="en-US" altLang="zh-TW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2025/11/26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央行購金</a:t>
                      </a:r>
                      <a:r>
                        <a:rPr lang="en-US" altLang="zh-TW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</a:t>
                      </a:r>
                      <a:r>
                        <a:rPr lang="zh-TW" altLang="en-US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噸</a:t>
                      </a:r>
                      <a:r>
                        <a:rPr lang="en-US" altLang="zh-TW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月、多元化需求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1952675"/>
                  </a:ext>
                </a:extLst>
              </a:tr>
              <a:tr h="810000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摩根大通 </a:t>
                      </a:r>
                      <a:r>
                        <a:rPr lang="en-US" altLang="zh-TW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JPMorgan)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6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5055 (Q4</a:t>
                      </a:r>
                      <a:r>
                        <a:rPr lang="zh-TW" altLang="en-US" sz="16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平均</a:t>
                      </a:r>
                      <a:r>
                        <a:rPr lang="en-US" altLang="zh-TW" sz="16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 / 5200-5300</a:t>
                      </a:r>
                      <a:r>
                        <a:rPr lang="zh-TW" altLang="en-US" sz="16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高點</a:t>
                      </a:r>
                      <a:endParaRPr lang="zh-TW" alt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2025/12/22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央行</a:t>
                      </a:r>
                      <a:r>
                        <a:rPr lang="en-US" altLang="zh-TW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190</a:t>
                      </a:r>
                      <a:r>
                        <a:rPr lang="zh-TW" altLang="en-US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噸</a:t>
                      </a:r>
                      <a:r>
                        <a:rPr lang="en-US" altLang="zh-TW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季 </a:t>
                      </a:r>
                      <a:r>
                        <a:rPr lang="en-US" altLang="zh-TW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+ ETF</a:t>
                      </a:r>
                      <a:r>
                        <a:rPr lang="zh-TW" altLang="en-US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需求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6637607"/>
                  </a:ext>
                </a:extLst>
              </a:tr>
              <a:tr h="810000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美國銀行 </a:t>
                      </a:r>
                      <a:r>
                        <a:rPr lang="en-US" altLang="zh-TW" sz="16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16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BofA)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6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~5000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2025/12/17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投資者擴大、地緣政策風險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3812920"/>
                  </a:ext>
                </a:extLst>
              </a:tr>
              <a:tr h="810000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瑞銀 </a:t>
                      </a:r>
                      <a:r>
                        <a:rPr lang="en-US" altLang="zh-TW" sz="16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16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UBS)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4700 (Q1)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2025/12/14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降息弱美元、債務高企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752876"/>
                  </a:ext>
                </a:extLst>
              </a:tr>
              <a:tr h="810000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德意志銀行 </a:t>
                      </a:r>
                      <a:r>
                        <a:rPr lang="en-US" altLang="zh-TW" sz="16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en-US" sz="16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DB)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6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3950-4950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2025/12/14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央行</a:t>
                      </a:r>
                      <a:r>
                        <a:rPr lang="en-US" altLang="zh-TW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/ETF</a:t>
                      </a:r>
                      <a:r>
                        <a:rPr lang="zh-TW" altLang="en-US" sz="16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需求超供應</a:t>
                      </a:r>
                      <a:endParaRPr lang="zh-TW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38339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5449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77B620F-2C85-46CD-AC21-027E77CEE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692307"/>
              </p:ext>
            </p:extLst>
          </p:nvPr>
        </p:nvGraphicFramePr>
        <p:xfrm>
          <a:off x="540001" y="1440001"/>
          <a:ext cx="10800002" cy="4860003"/>
        </p:xfrm>
        <a:graphic>
          <a:graphicData uri="http://schemas.openxmlformats.org/drawingml/2006/table">
            <a:tbl>
              <a:tblPr/>
              <a:tblGrid>
                <a:gridCol w="2160114">
                  <a:extLst>
                    <a:ext uri="{9D8B030D-6E8A-4147-A177-3AD203B41FA5}">
                      <a16:colId xmlns:a16="http://schemas.microsoft.com/office/drawing/2014/main" val="2287509865"/>
                    </a:ext>
                  </a:extLst>
                </a:gridCol>
                <a:gridCol w="2880152">
                  <a:extLst>
                    <a:ext uri="{9D8B030D-6E8A-4147-A177-3AD203B41FA5}">
                      <a16:colId xmlns:a16="http://schemas.microsoft.com/office/drawing/2014/main" val="2896800631"/>
                    </a:ext>
                  </a:extLst>
                </a:gridCol>
                <a:gridCol w="1224067">
                  <a:extLst>
                    <a:ext uri="{9D8B030D-6E8A-4147-A177-3AD203B41FA5}">
                      <a16:colId xmlns:a16="http://schemas.microsoft.com/office/drawing/2014/main" val="35974264"/>
                    </a:ext>
                  </a:extLst>
                </a:gridCol>
                <a:gridCol w="1252277">
                  <a:extLst>
                    <a:ext uri="{9D8B030D-6E8A-4147-A177-3AD203B41FA5}">
                      <a16:colId xmlns:a16="http://schemas.microsoft.com/office/drawing/2014/main" val="2346904271"/>
                    </a:ext>
                  </a:extLst>
                </a:gridCol>
                <a:gridCol w="1008470">
                  <a:extLst>
                    <a:ext uri="{9D8B030D-6E8A-4147-A177-3AD203B41FA5}">
                      <a16:colId xmlns:a16="http://schemas.microsoft.com/office/drawing/2014/main" val="3076587435"/>
                    </a:ext>
                  </a:extLst>
                </a:gridCol>
                <a:gridCol w="1137461">
                  <a:extLst>
                    <a:ext uri="{9D8B030D-6E8A-4147-A177-3AD203B41FA5}">
                      <a16:colId xmlns:a16="http://schemas.microsoft.com/office/drawing/2014/main" val="3474067153"/>
                    </a:ext>
                  </a:extLst>
                </a:gridCol>
                <a:gridCol w="1137461">
                  <a:extLst>
                    <a:ext uri="{9D8B030D-6E8A-4147-A177-3AD203B41FA5}">
                      <a16:colId xmlns:a16="http://schemas.microsoft.com/office/drawing/2014/main" val="2478421209"/>
                    </a:ext>
                  </a:extLst>
                </a:gridCol>
              </a:tblGrid>
              <a:tr h="531749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商品類別</a:t>
                      </a:r>
                    </a:p>
                  </a:txBody>
                  <a:tcPr marL="5234" marR="5234" marT="5234" marB="0" anchor="ctr">
                    <a:lnL>
                      <a:noFill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2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商品細項</a:t>
                      </a:r>
                    </a:p>
                  </a:txBody>
                  <a:tcPr marL="5234" marR="5234" marT="5234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2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風險屬性</a:t>
                      </a:r>
                    </a:p>
                  </a:txBody>
                  <a:tcPr marL="5234" marR="5234" marT="5234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2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配置比重</a:t>
                      </a:r>
                    </a:p>
                  </a:txBody>
                  <a:tcPr marL="5234" marR="5234" marT="5234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單筆</a:t>
                      </a:r>
                    </a:p>
                  </a:txBody>
                  <a:tcPr marL="5234" marR="5234" marT="5234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2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定期定額</a:t>
                      </a:r>
                    </a:p>
                  </a:txBody>
                  <a:tcPr marL="5234" marR="5234" marT="5234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644256"/>
                  </a:ext>
                </a:extLst>
              </a:tr>
              <a:tr h="53174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積極型</a:t>
                      </a:r>
                    </a:p>
                  </a:txBody>
                  <a:tcPr marL="5234" marR="5234" marT="5234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2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穩健型</a:t>
                      </a:r>
                    </a:p>
                  </a:txBody>
                  <a:tcPr marL="5234" marR="5234" marT="5234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2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08282"/>
                  </a:ext>
                </a:extLst>
              </a:tr>
              <a:tr h="531749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固定收益 </a:t>
                      </a:r>
                      <a:r>
                        <a:rPr lang="en-US" altLang="zh-TW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- </a:t>
                      </a:r>
                      <a:r>
                        <a:rPr lang="zh-TW" alt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債券</a:t>
                      </a:r>
                    </a:p>
                  </a:txBody>
                  <a:tcPr marL="5234" marR="5234" marT="523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2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投資等級債</a:t>
                      </a:r>
                    </a:p>
                  </a:txBody>
                  <a:tcPr marL="5234" marR="5234" marT="5234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8C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保守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10%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20%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V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085699"/>
                  </a:ext>
                </a:extLst>
              </a:tr>
              <a:tr h="531749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234" marR="5234" marT="523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2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非投資等級債</a:t>
                      </a:r>
                    </a:p>
                  </a:txBody>
                  <a:tcPr marL="5234" marR="5234" marT="5234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8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穩健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15%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20%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V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886189"/>
                  </a:ext>
                </a:extLst>
              </a:tr>
              <a:tr h="531749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234" marR="5234" marT="523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2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全球債</a:t>
                      </a:r>
                    </a:p>
                  </a:txBody>
                  <a:tcPr marL="5234" marR="5234" marT="5234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8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穩健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15%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20%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V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583957"/>
                  </a:ext>
                </a:extLst>
              </a:tr>
              <a:tr h="531749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商品</a:t>
                      </a:r>
                      <a:endParaRPr lang="en-US" altLang="zh-TW" sz="18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234" marR="5234" marT="523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2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黃金</a:t>
                      </a:r>
                    </a:p>
                  </a:txBody>
                  <a:tcPr marL="5234" marR="5234" marT="5234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8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積極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5%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0%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V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　</a:t>
                      </a:r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/>
                          <a:ea typeface="微軟正黑體"/>
                          <a:cs typeface="+mn-cs"/>
                        </a:rPr>
                        <a:t>V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580251"/>
                  </a:ext>
                </a:extLst>
              </a:tr>
              <a:tr h="60601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股市</a:t>
                      </a:r>
                      <a:r>
                        <a:rPr lang="en-US" altLang="zh-TW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DM</a:t>
                      </a:r>
                    </a:p>
                  </a:txBody>
                  <a:tcPr marL="5234" marR="5234" marT="523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2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美國</a:t>
                      </a:r>
                    </a:p>
                  </a:txBody>
                  <a:tcPr marL="5234" marR="5234" marT="5234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8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穩健</a:t>
                      </a:r>
                    </a:p>
                    <a:p>
                      <a:pPr algn="ctr" fontAlgn="ctr"/>
                      <a:endParaRPr lang="zh-TW" alt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234" marR="5234" marT="5234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25%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20%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V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/>
                          <a:ea typeface="微軟正黑體"/>
                          <a:cs typeface="+mn-cs"/>
                        </a:rPr>
                        <a:t>V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005376"/>
                  </a:ext>
                </a:extLst>
              </a:tr>
              <a:tr h="531749">
                <a:tc rowSpan="2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股市</a:t>
                      </a:r>
                      <a:r>
                        <a:rPr lang="en-US" altLang="zh-TW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-EM</a:t>
                      </a:r>
                    </a:p>
                  </a:txBody>
                  <a:tcPr marL="5234" marR="5234" marT="523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台灣</a:t>
                      </a:r>
                    </a:p>
                  </a:txBody>
                  <a:tcPr marL="5234" marR="5234" marT="5234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8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積極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20%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10%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V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　</a:t>
                      </a:r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/>
                          <a:ea typeface="微軟正黑體"/>
                          <a:cs typeface="+mn-cs"/>
                        </a:rPr>
                        <a:t>V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05423"/>
                  </a:ext>
                </a:extLst>
              </a:tr>
              <a:tr h="531749"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234" marR="5234" marT="523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2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陸股 印度等新興股市</a:t>
                      </a:r>
                    </a:p>
                  </a:txBody>
                  <a:tcPr marL="5234" marR="5234" marT="5234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8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積極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10%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10%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V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　</a:t>
                      </a:r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/>
                          <a:ea typeface="微軟正黑體"/>
                          <a:cs typeface="+mn-cs"/>
                        </a:rPr>
                        <a:t>V</a:t>
                      </a:r>
                    </a:p>
                  </a:txBody>
                  <a:tcPr marL="5234" marR="5234" marT="5234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150076"/>
                  </a:ext>
                </a:extLst>
              </a:tr>
            </a:tbl>
          </a:graphicData>
        </a:graphic>
      </p:graphicFrame>
      <p:sp>
        <p:nvSpPr>
          <p:cNvPr id="5" name="標題 1">
            <a:extLst>
              <a:ext uri="{FF2B5EF4-FFF2-40B4-BE49-F238E27FC236}">
                <a16:creationId xmlns:a16="http://schemas.microsoft.com/office/drawing/2014/main" id="{6561BCD9-05AB-4684-BACD-9B7CD4B14EC4}"/>
              </a:ext>
            </a:extLst>
          </p:cNvPr>
          <p:cNvSpPr txBox="1">
            <a:spLocks/>
          </p:cNvSpPr>
          <p:nvPr/>
        </p:nvSpPr>
        <p:spPr bwMode="auto">
          <a:xfrm>
            <a:off x="731519" y="188720"/>
            <a:ext cx="10432473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36000" rIns="36000" bIns="36000" numCol="1" anchor="ctr" anchorCtr="0" compatLnSpc="1">
            <a:prstTxWarp prst="textNoShape">
              <a:avLst/>
            </a:prstTxWarp>
            <a:noAutofit/>
          </a:bodyPr>
          <a:lstStyle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3D393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itchFamily="34" charset="-120"/>
              </a:defRPr>
            </a:lvl1pPr>
            <a:lvl2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2pPr>
            <a:lvl3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3pPr>
            <a:lvl4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4pPr>
            <a:lvl5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9pPr>
          </a:lstStyle>
          <a:p>
            <a:r>
              <a:rPr lang="zh-TW" altLang="en-US" dirty="0"/>
              <a:t>資產配置建議</a:t>
            </a:r>
          </a:p>
        </p:txBody>
      </p:sp>
    </p:spTree>
    <p:extLst>
      <p:ext uri="{BB962C8B-B14F-4D97-AF65-F5344CB8AC3E}">
        <p14:creationId xmlns:p14="http://schemas.microsoft.com/office/powerpoint/2010/main" val="2342171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「THUNDER CARTOON」的圖片搜尋結果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3D3935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5" name="AutoShape 4" descr="「THUNDER CARTOON」的圖片搜尋結果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3D3935"/>
              </a:solidFill>
              <a:latin typeface="Arial" charset="0"/>
              <a:ea typeface="新細明體" charset="-120"/>
            </a:endParaRPr>
          </a:p>
        </p:txBody>
      </p:sp>
      <p:pic>
        <p:nvPicPr>
          <p:cNvPr id="1032" name="Picture 8" descr="http://www.clker.com/cliparts/1/1/2/4/1195423505480867441orage_yves_guillou_02.svg.h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5" y="-136525"/>
            <a:ext cx="190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圖片 245">
            <a:extLst>
              <a:ext uri="{FF2B5EF4-FFF2-40B4-BE49-F238E27FC236}">
                <a16:creationId xmlns:a16="http://schemas.microsoft.com/office/drawing/2014/main" id="{ACD3DEB9-F088-49F5-B981-6D956A5A4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412" y="1211404"/>
            <a:ext cx="10916188" cy="5241932"/>
          </a:xfrm>
          <a:prstGeom prst="rect">
            <a:avLst/>
          </a:prstGeom>
        </p:spPr>
      </p:pic>
      <p:graphicFrame>
        <p:nvGraphicFramePr>
          <p:cNvPr id="247" name="表格 246">
            <a:extLst>
              <a:ext uri="{FF2B5EF4-FFF2-40B4-BE49-F238E27FC236}">
                <a16:creationId xmlns:a16="http://schemas.microsoft.com/office/drawing/2014/main" id="{C892F4B3-511E-4430-9641-943A35DB5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308878"/>
              </p:ext>
            </p:extLst>
          </p:nvPr>
        </p:nvGraphicFramePr>
        <p:xfrm>
          <a:off x="540000" y="1439999"/>
          <a:ext cx="5400001" cy="4859995"/>
        </p:xfrm>
        <a:graphic>
          <a:graphicData uri="http://schemas.openxmlformats.org/drawingml/2006/table">
            <a:tbl>
              <a:tblPr/>
              <a:tblGrid>
                <a:gridCol w="1091504">
                  <a:extLst>
                    <a:ext uri="{9D8B030D-6E8A-4147-A177-3AD203B41FA5}">
                      <a16:colId xmlns:a16="http://schemas.microsoft.com/office/drawing/2014/main" val="847729897"/>
                    </a:ext>
                  </a:extLst>
                </a:gridCol>
                <a:gridCol w="1508948">
                  <a:extLst>
                    <a:ext uri="{9D8B030D-6E8A-4147-A177-3AD203B41FA5}">
                      <a16:colId xmlns:a16="http://schemas.microsoft.com/office/drawing/2014/main" val="3083950782"/>
                    </a:ext>
                  </a:extLst>
                </a:gridCol>
                <a:gridCol w="568851">
                  <a:extLst>
                    <a:ext uri="{9D8B030D-6E8A-4147-A177-3AD203B41FA5}">
                      <a16:colId xmlns:a16="http://schemas.microsoft.com/office/drawing/2014/main" val="200478906"/>
                    </a:ext>
                  </a:extLst>
                </a:gridCol>
                <a:gridCol w="568851">
                  <a:extLst>
                    <a:ext uri="{9D8B030D-6E8A-4147-A177-3AD203B41FA5}">
                      <a16:colId xmlns:a16="http://schemas.microsoft.com/office/drawing/2014/main" val="1452946297"/>
                    </a:ext>
                  </a:extLst>
                </a:gridCol>
                <a:gridCol w="536341">
                  <a:extLst>
                    <a:ext uri="{9D8B030D-6E8A-4147-A177-3AD203B41FA5}">
                      <a16:colId xmlns:a16="http://schemas.microsoft.com/office/drawing/2014/main" val="3993921500"/>
                    </a:ext>
                  </a:extLst>
                </a:gridCol>
                <a:gridCol w="552597">
                  <a:extLst>
                    <a:ext uri="{9D8B030D-6E8A-4147-A177-3AD203B41FA5}">
                      <a16:colId xmlns:a16="http://schemas.microsoft.com/office/drawing/2014/main" val="1345138605"/>
                    </a:ext>
                  </a:extLst>
                </a:gridCol>
                <a:gridCol w="572909">
                  <a:extLst>
                    <a:ext uri="{9D8B030D-6E8A-4147-A177-3AD203B41FA5}">
                      <a16:colId xmlns:a16="http://schemas.microsoft.com/office/drawing/2014/main" val="1220837919"/>
                    </a:ext>
                  </a:extLst>
                </a:gridCol>
              </a:tblGrid>
              <a:tr h="672035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200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200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偏空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200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中性</a:t>
                      </a:r>
                      <a:b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偏空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200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中性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200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中性</a:t>
                      </a:r>
                      <a:b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偏多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200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偏多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200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089307"/>
                  </a:ext>
                </a:extLst>
              </a:tr>
              <a:tr h="34322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區域型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全球股市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細明體" panose="02020509000000000000" pitchFamily="49" charset="-120"/>
                        <a:ea typeface="細明體" panose="02020509000000000000" pitchFamily="49" charset="-120"/>
                        <a:cs typeface="+mn-cs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細明體" panose="02020509000000000000" pitchFamily="49" charset="-120"/>
                          <a:ea typeface="細明體" panose="02020509000000000000" pitchFamily="49" charset="-120"/>
                          <a:cs typeface="+mn-cs"/>
                        </a:rPr>
                        <a:t>◎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423959"/>
                  </a:ext>
                </a:extLst>
              </a:tr>
              <a:tr h="34322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新興股市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細明體" panose="02020509000000000000" pitchFamily="49" charset="-120"/>
                        <a:ea typeface="細明體" panose="02020509000000000000" pitchFamily="49" charset="-120"/>
                        <a:cs typeface="+mn-cs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細明體" panose="02020509000000000000" pitchFamily="49" charset="-120"/>
                          <a:ea typeface="細明體" panose="02020509000000000000" pitchFamily="49" charset="-120"/>
                          <a:cs typeface="+mn-cs"/>
                        </a:rPr>
                        <a:t>◎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3105"/>
                  </a:ext>
                </a:extLst>
              </a:tr>
              <a:tr h="36053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新興亞洲股市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細明體" panose="02020509000000000000" pitchFamily="49" charset="-120"/>
                        <a:ea typeface="細明體" panose="02020509000000000000" pitchFamily="49" charset="-120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細明體" panose="02020509000000000000" pitchFamily="49" charset="-120"/>
                        <a:ea typeface="細明體" panose="02020509000000000000" pitchFamily="49" charset="-120"/>
                        <a:cs typeface="+mn-cs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細明體" panose="02020509000000000000" pitchFamily="49" charset="-120"/>
                          <a:ea typeface="細明體" panose="02020509000000000000" pitchFamily="49" charset="-120"/>
                          <a:cs typeface="+mn-cs"/>
                        </a:rPr>
                        <a:t>◎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730335"/>
                  </a:ext>
                </a:extLst>
              </a:tr>
              <a:tr h="36053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新興歐洲股市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細明體" panose="02020509000000000000" pitchFamily="49" charset="-120"/>
                        <a:ea typeface="細明體" panose="02020509000000000000" pitchFamily="49" charset="-120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細明體" panose="02020509000000000000" pitchFamily="49" charset="-120"/>
                        <a:ea typeface="細明體" panose="02020509000000000000" pitchFamily="49" charset="-120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細明體" panose="02020509000000000000" pitchFamily="49" charset="-120"/>
                        <a:ea typeface="細明體" panose="02020509000000000000" pitchFamily="49" charset="-120"/>
                        <a:cs typeface="+mn-cs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細明體" panose="02020509000000000000" pitchFamily="49" charset="-120"/>
                          <a:ea typeface="細明體" panose="02020509000000000000" pitchFamily="49" charset="-120"/>
                          <a:cs typeface="+mn-cs"/>
                        </a:rPr>
                        <a:t>◎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細明體" panose="02020509000000000000" pitchFamily="49" charset="-120"/>
                        <a:ea typeface="細明體" panose="02020509000000000000" pitchFamily="49" charset="-120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760746"/>
                  </a:ext>
                </a:extLst>
              </a:tr>
              <a:tr h="34322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拉丁美洲股市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細明體" panose="02020509000000000000" pitchFamily="49" charset="-120"/>
                          <a:ea typeface="細明體" panose="02020509000000000000" pitchFamily="49" charset="-120"/>
                          <a:cs typeface="+mn-cs"/>
                        </a:rPr>
                        <a:t>◎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細明體" panose="02020509000000000000" pitchFamily="49" charset="-120"/>
                        <a:ea typeface="細明體" panose="02020509000000000000" pitchFamily="49" charset="-120"/>
                        <a:cs typeface="+mn-cs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327289"/>
                  </a:ext>
                </a:extLst>
              </a:tr>
              <a:tr h="343228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成熟</a:t>
                      </a:r>
                      <a:b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國家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美國</a:t>
                      </a: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股市</a:t>
                      </a:r>
                      <a:endParaRPr lang="zh-TW" alt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細明體" panose="02020509000000000000" pitchFamily="49" charset="-120"/>
                        <a:ea typeface="細明體" panose="02020509000000000000" pitchFamily="49" charset="-120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細明體" panose="02020509000000000000" pitchFamily="49" charset="-120"/>
                        <a:ea typeface="細明體" panose="02020509000000000000" pitchFamily="49" charset="-120"/>
                        <a:cs typeface="+mn-cs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細明體" panose="02020509000000000000" pitchFamily="49" charset="-120"/>
                          <a:ea typeface="細明體" panose="02020509000000000000" pitchFamily="49" charset="-120"/>
                          <a:cs typeface="+mn-cs"/>
                        </a:rPr>
                        <a:t>◎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582797"/>
                  </a:ext>
                </a:extLst>
              </a:tr>
              <a:tr h="34322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歐洲股市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細明體" panose="02020509000000000000" pitchFamily="49" charset="-120"/>
                          <a:ea typeface="細明體" panose="02020509000000000000" pitchFamily="49" charset="-120"/>
                          <a:cs typeface="+mn-cs"/>
                        </a:rPr>
                        <a:t>◎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細明體" panose="02020509000000000000" pitchFamily="49" charset="-120"/>
                        <a:ea typeface="細明體" panose="02020509000000000000" pitchFamily="49" charset="-120"/>
                        <a:cs typeface="+mn-cs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886739"/>
                  </a:ext>
                </a:extLst>
              </a:tr>
              <a:tr h="360534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日本股市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900" b="1" i="0" u="none" strike="noStrike">
                        <a:solidFill>
                          <a:srgbClr val="000000"/>
                        </a:solidFill>
                        <a:effectLst/>
                        <a:latin typeface="細明體" panose="02020509000000000000" pitchFamily="49" charset="-120"/>
                        <a:ea typeface="細明體" panose="02020509000000000000" pitchFamily="49" charset="-120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細明體" panose="02020509000000000000" pitchFamily="49" charset="-120"/>
                        <a:ea typeface="細明體" panose="02020509000000000000" pitchFamily="49" charset="-120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細明體" panose="02020509000000000000" pitchFamily="49" charset="-120"/>
                          <a:ea typeface="細明體" panose="02020509000000000000" pitchFamily="49" charset="-120"/>
                          <a:cs typeface="+mn-cs"/>
                        </a:rPr>
                        <a:t>◎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細明體" panose="02020509000000000000" pitchFamily="49" charset="-120"/>
                        <a:ea typeface="細明體" panose="02020509000000000000" pitchFamily="49" charset="-120"/>
                        <a:cs typeface="+mn-cs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細明體" panose="02020509000000000000" pitchFamily="49" charset="-120"/>
                        <a:ea typeface="細明體" panose="02020509000000000000" pitchFamily="49" charset="-120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289374"/>
                  </a:ext>
                </a:extLst>
              </a:tr>
              <a:tr h="343228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新興</a:t>
                      </a:r>
                      <a:b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國家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中國股市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F4B084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900" b="1" i="0" u="none" strike="noStrike" dirty="0">
                        <a:solidFill>
                          <a:srgbClr val="F4B084"/>
                        </a:solidFill>
                        <a:effectLst/>
                        <a:latin typeface="細明體" panose="02020509000000000000" pitchFamily="49" charset="-120"/>
                        <a:ea typeface="細明體" panose="02020509000000000000" pitchFamily="49" charset="-120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細明體" panose="02020509000000000000" pitchFamily="49" charset="-120"/>
                          <a:ea typeface="細明體" panose="02020509000000000000" pitchFamily="49" charset="-120"/>
                          <a:cs typeface="+mn-cs"/>
                        </a:rPr>
                        <a:t>◎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細明體" panose="02020509000000000000" pitchFamily="49" charset="-120"/>
                        <a:ea typeface="細明體" panose="02020509000000000000" pitchFamily="49" charset="-120"/>
                        <a:cs typeface="+mn-cs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F4B084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09792"/>
                  </a:ext>
                </a:extLst>
              </a:tr>
              <a:tr h="34322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印度股市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F4B084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F4B084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細明體" panose="02020509000000000000" pitchFamily="49" charset="-120"/>
                          <a:ea typeface="細明體" panose="02020509000000000000" pitchFamily="49" charset="-120"/>
                          <a:cs typeface="+mn-cs"/>
                        </a:rPr>
                        <a:t>◎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細明體" panose="02020509000000000000" pitchFamily="49" charset="-120"/>
                        <a:ea typeface="細明體" panose="02020509000000000000" pitchFamily="49" charset="-120"/>
                        <a:cs typeface="+mn-cs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F4B084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275296"/>
                  </a:ext>
                </a:extLst>
              </a:tr>
              <a:tr h="34322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巴西股市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F4B084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細明體" panose="02020509000000000000" pitchFamily="49" charset="-120"/>
                        <a:ea typeface="細明體" panose="02020509000000000000" pitchFamily="49" charset="-120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細明體" panose="02020509000000000000" pitchFamily="49" charset="-120"/>
                          <a:ea typeface="細明體" panose="02020509000000000000" pitchFamily="49" charset="-120"/>
                          <a:cs typeface="+mn-cs"/>
                        </a:rPr>
                        <a:t>◎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細明體" panose="02020509000000000000" pitchFamily="49" charset="-120"/>
                        <a:ea typeface="細明體" panose="02020509000000000000" pitchFamily="49" charset="-120"/>
                        <a:cs typeface="+mn-cs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F4B084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735815"/>
                  </a:ext>
                </a:extLst>
              </a:tr>
              <a:tr h="36053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台灣股市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>
                          <a:solidFill>
                            <a:srgbClr val="F4B084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F4B084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細明體" panose="02020509000000000000" pitchFamily="49" charset="-120"/>
                        <a:ea typeface="細明體" panose="02020509000000000000" pitchFamily="49" charset="-120"/>
                        <a:cs typeface="+mn-cs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細明體" panose="02020509000000000000" pitchFamily="49" charset="-120"/>
                          <a:ea typeface="細明體" panose="02020509000000000000" pitchFamily="49" charset="-120"/>
                          <a:cs typeface="+mn-cs"/>
                        </a:rPr>
                        <a:t>◎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F4B084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064213"/>
                  </a:ext>
                </a:extLst>
              </a:tr>
            </a:tbl>
          </a:graphicData>
        </a:graphic>
      </p:graphicFrame>
      <p:graphicFrame>
        <p:nvGraphicFramePr>
          <p:cNvPr id="248" name="表格 247">
            <a:extLst>
              <a:ext uri="{FF2B5EF4-FFF2-40B4-BE49-F238E27FC236}">
                <a16:creationId xmlns:a16="http://schemas.microsoft.com/office/drawing/2014/main" id="{EFD957ED-865C-4F53-97B1-3598D719A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351175"/>
              </p:ext>
            </p:extLst>
          </p:nvPr>
        </p:nvGraphicFramePr>
        <p:xfrm>
          <a:off x="6120000" y="1440000"/>
          <a:ext cx="5400000" cy="3059998"/>
        </p:xfrm>
        <a:graphic>
          <a:graphicData uri="http://schemas.openxmlformats.org/drawingml/2006/table">
            <a:tbl>
              <a:tblPr/>
              <a:tblGrid>
                <a:gridCol w="1113542">
                  <a:extLst>
                    <a:ext uri="{9D8B030D-6E8A-4147-A177-3AD203B41FA5}">
                      <a16:colId xmlns:a16="http://schemas.microsoft.com/office/drawing/2014/main" val="3027385472"/>
                    </a:ext>
                  </a:extLst>
                </a:gridCol>
                <a:gridCol w="1486917">
                  <a:extLst>
                    <a:ext uri="{9D8B030D-6E8A-4147-A177-3AD203B41FA5}">
                      <a16:colId xmlns:a16="http://schemas.microsoft.com/office/drawing/2014/main" val="3380865315"/>
                    </a:ext>
                  </a:extLst>
                </a:gridCol>
                <a:gridCol w="568845">
                  <a:extLst>
                    <a:ext uri="{9D8B030D-6E8A-4147-A177-3AD203B41FA5}">
                      <a16:colId xmlns:a16="http://schemas.microsoft.com/office/drawing/2014/main" val="59554916"/>
                    </a:ext>
                  </a:extLst>
                </a:gridCol>
                <a:gridCol w="568845">
                  <a:extLst>
                    <a:ext uri="{9D8B030D-6E8A-4147-A177-3AD203B41FA5}">
                      <a16:colId xmlns:a16="http://schemas.microsoft.com/office/drawing/2014/main" val="2687866189"/>
                    </a:ext>
                  </a:extLst>
                </a:gridCol>
                <a:gridCol w="536348">
                  <a:extLst>
                    <a:ext uri="{9D8B030D-6E8A-4147-A177-3AD203B41FA5}">
                      <a16:colId xmlns:a16="http://schemas.microsoft.com/office/drawing/2014/main" val="2400199882"/>
                    </a:ext>
                  </a:extLst>
                </a:gridCol>
                <a:gridCol w="552596">
                  <a:extLst>
                    <a:ext uri="{9D8B030D-6E8A-4147-A177-3AD203B41FA5}">
                      <a16:colId xmlns:a16="http://schemas.microsoft.com/office/drawing/2014/main" val="1194718702"/>
                    </a:ext>
                  </a:extLst>
                </a:gridCol>
                <a:gridCol w="572907">
                  <a:extLst>
                    <a:ext uri="{9D8B030D-6E8A-4147-A177-3AD203B41FA5}">
                      <a16:colId xmlns:a16="http://schemas.microsoft.com/office/drawing/2014/main" val="167915540"/>
                    </a:ext>
                  </a:extLst>
                </a:gridCol>
              </a:tblGrid>
              <a:tr h="760354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偏空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中性</a:t>
                      </a:r>
                      <a:b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偏空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中性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中性</a:t>
                      </a:r>
                      <a:b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偏多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偏多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696998"/>
                  </a:ext>
                </a:extLst>
              </a:tr>
              <a:tr h="45490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債券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全球債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細明體" panose="02020509000000000000" pitchFamily="49" charset="-120"/>
                          <a:ea typeface="細明體" panose="02020509000000000000" pitchFamily="49" charset="-120"/>
                          <a:cs typeface="+mn-cs"/>
                        </a:rPr>
                        <a:t>◎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305127"/>
                  </a:ext>
                </a:extLst>
              </a:tr>
              <a:tr h="46747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美國公債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細明體" panose="02020509000000000000" pitchFamily="49" charset="-120"/>
                          <a:ea typeface="細明體" panose="02020509000000000000" pitchFamily="49" charset="-120"/>
                          <a:cs typeface="+mn-cs"/>
                        </a:rPr>
                        <a:t>◎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63058"/>
                  </a:ext>
                </a:extLst>
              </a:tr>
              <a:tr h="46747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投資等級債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細明體" panose="02020509000000000000" pitchFamily="49" charset="-120"/>
                          <a:ea typeface="細明體" panose="02020509000000000000" pitchFamily="49" charset="-120"/>
                          <a:cs typeface="+mn-cs"/>
                        </a:rPr>
                        <a:t>◎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990936"/>
                  </a:ext>
                </a:extLst>
              </a:tr>
              <a:tr h="4549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非投資等級債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900" b="1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細明體" panose="02020509000000000000" pitchFamily="49" charset="-120"/>
                          <a:ea typeface="細明體" panose="02020509000000000000" pitchFamily="49" charset="-120"/>
                          <a:cs typeface="+mn-cs"/>
                        </a:rPr>
                        <a:t>◎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756904"/>
                  </a:ext>
                </a:extLst>
              </a:tr>
              <a:tr h="4549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zh-TW" altLang="en-US" sz="1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新興市場債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zh-TW" altLang="en-US" sz="1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+mn-cs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900" b="1" i="0" u="none" strike="noStrike" kern="1200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900" b="1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細明體" panose="02020509000000000000" pitchFamily="49" charset="-120"/>
                          <a:ea typeface="細明體" panose="02020509000000000000" pitchFamily="49" charset="-120"/>
                          <a:cs typeface="+mn-cs"/>
                        </a:rPr>
                        <a:t>◎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zh-TW" altLang="en-US" sz="1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+mn-cs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548768"/>
                  </a:ext>
                </a:extLst>
              </a:tr>
            </a:tbl>
          </a:graphicData>
        </a:graphic>
      </p:graphicFrame>
      <p:graphicFrame>
        <p:nvGraphicFramePr>
          <p:cNvPr id="255" name="表格 254">
            <a:extLst>
              <a:ext uri="{FF2B5EF4-FFF2-40B4-BE49-F238E27FC236}">
                <a16:creationId xmlns:a16="http://schemas.microsoft.com/office/drawing/2014/main" id="{E2691E9C-7AFA-46EC-827E-B0E83693C7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131595"/>
              </p:ext>
            </p:extLst>
          </p:nvPr>
        </p:nvGraphicFramePr>
        <p:xfrm>
          <a:off x="6120000" y="4680000"/>
          <a:ext cx="5400000" cy="1619999"/>
        </p:xfrm>
        <a:graphic>
          <a:graphicData uri="http://schemas.openxmlformats.org/drawingml/2006/table">
            <a:tbl>
              <a:tblPr/>
              <a:tblGrid>
                <a:gridCol w="1113540">
                  <a:extLst>
                    <a:ext uri="{9D8B030D-6E8A-4147-A177-3AD203B41FA5}">
                      <a16:colId xmlns:a16="http://schemas.microsoft.com/office/drawing/2014/main" val="3027385472"/>
                    </a:ext>
                  </a:extLst>
                </a:gridCol>
                <a:gridCol w="1486916">
                  <a:extLst>
                    <a:ext uri="{9D8B030D-6E8A-4147-A177-3AD203B41FA5}">
                      <a16:colId xmlns:a16="http://schemas.microsoft.com/office/drawing/2014/main" val="3380865315"/>
                    </a:ext>
                  </a:extLst>
                </a:gridCol>
                <a:gridCol w="568844">
                  <a:extLst>
                    <a:ext uri="{9D8B030D-6E8A-4147-A177-3AD203B41FA5}">
                      <a16:colId xmlns:a16="http://schemas.microsoft.com/office/drawing/2014/main" val="59554916"/>
                    </a:ext>
                  </a:extLst>
                </a:gridCol>
                <a:gridCol w="568844">
                  <a:extLst>
                    <a:ext uri="{9D8B030D-6E8A-4147-A177-3AD203B41FA5}">
                      <a16:colId xmlns:a16="http://schemas.microsoft.com/office/drawing/2014/main" val="2687866189"/>
                    </a:ext>
                  </a:extLst>
                </a:gridCol>
                <a:gridCol w="536348">
                  <a:extLst>
                    <a:ext uri="{9D8B030D-6E8A-4147-A177-3AD203B41FA5}">
                      <a16:colId xmlns:a16="http://schemas.microsoft.com/office/drawing/2014/main" val="2400199882"/>
                    </a:ext>
                  </a:extLst>
                </a:gridCol>
                <a:gridCol w="552597">
                  <a:extLst>
                    <a:ext uri="{9D8B030D-6E8A-4147-A177-3AD203B41FA5}">
                      <a16:colId xmlns:a16="http://schemas.microsoft.com/office/drawing/2014/main" val="1194718702"/>
                    </a:ext>
                  </a:extLst>
                </a:gridCol>
                <a:gridCol w="572911">
                  <a:extLst>
                    <a:ext uri="{9D8B030D-6E8A-4147-A177-3AD203B41FA5}">
                      <a16:colId xmlns:a16="http://schemas.microsoft.com/office/drawing/2014/main" val="167915540"/>
                    </a:ext>
                  </a:extLst>
                </a:gridCol>
              </a:tblGrid>
              <a:tr h="720307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偏空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中性</a:t>
                      </a:r>
                      <a:b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偏空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中性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中性</a:t>
                      </a:r>
                      <a:b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偏多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偏多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696998"/>
                  </a:ext>
                </a:extLst>
              </a:tr>
              <a:tr h="44984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商品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能源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細明體" panose="02020509000000000000" pitchFamily="49" charset="-120"/>
                          <a:ea typeface="細明體" panose="02020509000000000000" pitchFamily="49" charset="-120"/>
                          <a:cs typeface="+mn-cs"/>
                        </a:rPr>
                        <a:t>◎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900" b="1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305127"/>
                  </a:ext>
                </a:extLst>
              </a:tr>
              <a:tr h="44984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黃金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TW" alt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細明體" panose="02020509000000000000" pitchFamily="49" charset="-120"/>
                        <a:ea typeface="細明體" panose="02020509000000000000" pitchFamily="49" charset="-120"/>
                        <a:cs typeface="+mn-cs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細明體" panose="02020509000000000000" pitchFamily="49" charset="-120"/>
                          <a:ea typeface="細明體" panose="02020509000000000000" pitchFamily="49" charset="-120"/>
                          <a:cs typeface="+mn-cs"/>
                        </a:rPr>
                        <a:t>◎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63058"/>
                  </a:ext>
                </a:extLst>
              </a:tr>
            </a:tbl>
          </a:graphicData>
        </a:graphic>
      </p:graphicFrame>
      <p:sp>
        <p:nvSpPr>
          <p:cNvPr id="343" name="標題 1">
            <a:extLst>
              <a:ext uri="{FF2B5EF4-FFF2-40B4-BE49-F238E27FC236}">
                <a16:creationId xmlns:a16="http://schemas.microsoft.com/office/drawing/2014/main" id="{BB8B3115-9EC8-4DEC-8FB3-AD8C67AFFBA9}"/>
              </a:ext>
            </a:extLst>
          </p:cNvPr>
          <p:cNvSpPr txBox="1">
            <a:spLocks/>
          </p:cNvSpPr>
          <p:nvPr/>
        </p:nvSpPr>
        <p:spPr bwMode="auto">
          <a:xfrm>
            <a:off x="731519" y="188720"/>
            <a:ext cx="10432473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36000" rIns="36000" bIns="36000" numCol="1" anchor="ctr" anchorCtr="0" compatLnSpc="1">
            <a:prstTxWarp prst="textNoShape">
              <a:avLst/>
            </a:prstTxWarp>
            <a:noAutofit/>
          </a:bodyPr>
          <a:lstStyle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3D393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itchFamily="34" charset="-120"/>
              </a:defRPr>
            </a:lvl1pPr>
            <a:lvl2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2pPr>
            <a:lvl3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3pPr>
            <a:lvl4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4pPr>
            <a:lvl5pPr algn="l" defTabSz="457200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3D3935"/>
                </a:solidFill>
                <a:latin typeface="Calibri" pitchFamily="34" charset="0"/>
                <a:ea typeface="微軟正黑體" pitchFamily="34" charset="-120"/>
                <a:cs typeface="Arial Unicode MS" pitchFamily="34" charset="-12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6AC19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defRPr>
            </a:lvl9pPr>
          </a:lstStyle>
          <a:p>
            <a:r>
              <a:rPr lang="en-US" altLang="zh-TW" dirty="0"/>
              <a:t>2026</a:t>
            </a:r>
            <a:r>
              <a:rPr lang="zh-TW" altLang="en-US" dirty="0"/>
              <a:t>年</a:t>
            </a:r>
            <a:r>
              <a:rPr lang="en-US" altLang="zh-TW" dirty="0"/>
              <a:t>1</a:t>
            </a:r>
            <a:r>
              <a:rPr lang="zh-TW" altLang="en-US" dirty="0"/>
              <a:t>月投資市場評等		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B0BE94B-D5F4-42A7-A9EA-0C6D8B0D40D6}"/>
              </a:ext>
            </a:extLst>
          </p:cNvPr>
          <p:cNvSpPr txBox="1"/>
          <p:nvPr/>
        </p:nvSpPr>
        <p:spPr>
          <a:xfrm>
            <a:off x="7176120" y="6453336"/>
            <a:ext cx="4552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TW" altLang="en-US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資料來源</a:t>
            </a:r>
            <a:r>
              <a:rPr kumimoji="0" lang="en-US" altLang="zh-TW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kumimoji="0" lang="zh-TW" altLang="en-US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截至</a:t>
            </a:r>
            <a:r>
              <a:rPr kumimoji="0" lang="en-US" altLang="zh-TW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2025/10/29</a:t>
            </a:r>
            <a:r>
              <a:rPr kumimoji="0" lang="zh-TW" altLang="en-US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；王道銀行彙整</a:t>
            </a:r>
          </a:p>
        </p:txBody>
      </p:sp>
    </p:spTree>
    <p:extLst>
      <p:ext uri="{BB962C8B-B14F-4D97-AF65-F5344CB8AC3E}">
        <p14:creationId xmlns:p14="http://schemas.microsoft.com/office/powerpoint/2010/main" val="316587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3781644"/>
      </p:ext>
    </p:extLst>
  </p:cSld>
  <p:clrMapOvr>
    <a:masterClrMapping/>
  </p:clrMapOvr>
</p:sld>
</file>

<file path=ppt/theme/theme1.xml><?xml version="1.0" encoding="utf-8"?>
<a:theme xmlns:a="http://schemas.openxmlformats.org/drawingml/2006/main" name="20150422 template(F) ">
  <a:themeElements>
    <a:clrScheme name="O-Bank PPT">
      <a:dk1>
        <a:srgbClr val="3D3935"/>
      </a:dk1>
      <a:lt1>
        <a:srgbClr val="FFFFFF"/>
      </a:lt1>
      <a:dk2>
        <a:srgbClr val="3D3935"/>
      </a:dk2>
      <a:lt2>
        <a:srgbClr val="C2C5C7"/>
      </a:lt2>
      <a:accent1>
        <a:srgbClr val="FF8200"/>
      </a:accent1>
      <a:accent2>
        <a:srgbClr val="00A9BA"/>
      </a:accent2>
      <a:accent3>
        <a:srgbClr val="3D3935"/>
      </a:accent3>
      <a:accent4>
        <a:srgbClr val="FFE228"/>
      </a:accent4>
      <a:accent5>
        <a:srgbClr val="C2C5C7"/>
      </a:accent5>
      <a:accent6>
        <a:srgbClr val="FFA347"/>
      </a:accent6>
      <a:hlink>
        <a:srgbClr val="00A9BA"/>
      </a:hlink>
      <a:folHlink>
        <a:srgbClr val="FF8200"/>
      </a:folHlink>
    </a:clrScheme>
    <a:fontScheme name="O-Bank PPT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chemeClr val="tx2"/>
          </a:solidFill>
          <a:headEnd type="none" w="med" len="med"/>
          <a:tailEnd type="triangle" w="med" len="med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latin typeface="微軟正黑體" panose="020B0604030504040204" pitchFamily="34" charset="-120"/>
            <a:ea typeface="微軟正黑體" panose="020B0604030504040204" pitchFamily="34" charset="-12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20150422 template(F) ">
  <a:themeElements>
    <a:clrScheme name="O-Bank PPT">
      <a:dk1>
        <a:srgbClr val="3D3935"/>
      </a:dk1>
      <a:lt1>
        <a:srgbClr val="FFFFFF"/>
      </a:lt1>
      <a:dk2>
        <a:srgbClr val="3D3935"/>
      </a:dk2>
      <a:lt2>
        <a:srgbClr val="C2C5C7"/>
      </a:lt2>
      <a:accent1>
        <a:srgbClr val="FF8200"/>
      </a:accent1>
      <a:accent2>
        <a:srgbClr val="00A9BA"/>
      </a:accent2>
      <a:accent3>
        <a:srgbClr val="3D3935"/>
      </a:accent3>
      <a:accent4>
        <a:srgbClr val="FFE228"/>
      </a:accent4>
      <a:accent5>
        <a:srgbClr val="C2C5C7"/>
      </a:accent5>
      <a:accent6>
        <a:srgbClr val="FFA347"/>
      </a:accent6>
      <a:hlink>
        <a:srgbClr val="00A9BA"/>
      </a:hlink>
      <a:folHlink>
        <a:srgbClr val="FF8200"/>
      </a:folHlink>
    </a:clrScheme>
    <a:fontScheme name="O-Bank PPT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chemeClr val="tx2"/>
          </a:solidFill>
          <a:headEnd type="none" w="med" len="med"/>
          <a:tailEnd type="triangle" w="med" len="med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latin typeface="微軟正黑體" panose="020B0604030504040204" pitchFamily="34" charset="-120"/>
            <a:ea typeface="微軟正黑體" panose="020B0604030504040204" pitchFamily="34" charset="-12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{7544BAC7-034F-4FC7-B142-091977518D7E}</Item>
  <Item xmlns="" name="ShapesMap_Charts">{"{7544BAC7-034F-4FC7-B142-091977518D7E}":{"1220":{},"1267":{},"1718":{},"2329":{},"2572":{},"2623":{},"2787":{},"2811":{},"2819":{},"2843":{},"2857":{},"2904":{},"2918":{},"2937":{},"2942":{},"2950":{},"2952":{},"2956":{},"2960":{},"2964":{},"2966":{},"2968":{},"2969":{},"2972":{},"2978":{},"2980":{},"2981":{},"2983":{},"2984":{},"2987":{},"2988":{},"2991":{},"2993":{},"2995":{},"2996":{},"3000":{},"3001":{},"3002":{},"3003":{},"3007":{},"3008":{},"3009":{},"3010":{},"3011":{},"3012":{},"3013":{}}}</Item>
</BBSettings>
</file>

<file path=customXml/itemProps1.xml><?xml version="1.0" encoding="utf-8"?>
<ds:datastoreItem xmlns:ds="http://schemas.openxmlformats.org/officeDocument/2006/customXml" ds:itemID="{6C879D3C-A9DC-4DD0-BC98-4B4B36DEF33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20150422 template(F) </Template>
  <TotalTime>146031</TotalTime>
  <Words>2029</Words>
  <Application>Microsoft Macintosh PowerPoint</Application>
  <PresentationFormat>寬螢幕</PresentationFormat>
  <Paragraphs>368</Paragraphs>
  <Slides>13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13</vt:i4>
      </vt:variant>
    </vt:vector>
  </HeadingPairs>
  <TitlesOfParts>
    <vt:vector size="22" baseType="lpstr">
      <vt:lpstr>細明體</vt:lpstr>
      <vt:lpstr>微軟正黑體</vt:lpstr>
      <vt:lpstr>新細明體</vt:lpstr>
      <vt:lpstr>Noto Sans CJK TC Regular</vt:lpstr>
      <vt:lpstr>Arial</vt:lpstr>
      <vt:lpstr>Calibri</vt:lpstr>
      <vt:lpstr>Wingdings</vt:lpstr>
      <vt:lpstr>20150422 template(F) </vt:lpstr>
      <vt:lpstr>1_20150422 template(F) </vt:lpstr>
      <vt:lpstr>王道理專月會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王道市場洞悉O-Insight</dc:title>
  <dc:creator>O-Bank</dc:creator>
  <cp:lastModifiedBy>OSENSETECH3</cp:lastModifiedBy>
  <cp:revision>5137</cp:revision>
  <cp:lastPrinted>2024-05-10T00:07:56Z</cp:lastPrinted>
  <dcterms:created xsi:type="dcterms:W3CDTF">2015-02-25T08:23:57Z</dcterms:created>
  <dcterms:modified xsi:type="dcterms:W3CDTF">2026-05-12T07:52:54Z</dcterms:modified>
</cp:coreProperties>
</file>